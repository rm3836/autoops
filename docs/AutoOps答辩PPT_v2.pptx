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0"/>
            <a:ext cx="12161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00D4AA"/>
                </a:solidFill>
              </a:defRPr>
            </a:pPr>
            <a:r>
              <a:t>AutoOps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6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企业级智能自动化运维平台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108960"/>
            <a:ext cx="1216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C3D2"/>
                </a:solidFill>
              </a:defRPr>
            </a:pPr>
            <a:r>
              <a:t>Enterprise Intelligent Automated Operations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840480"/>
            <a:ext cx="1216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8A6FF"/>
                </a:solidFill>
              </a:defRPr>
            </a:pPr>
            <a:r>
              <a:t>基于 Python + Flask + Paramiko + psutil + schedule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303520"/>
            <a:ext cx="1216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《自动化运维技术》课程设计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760720"/>
            <a:ext cx="121615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4C3D2"/>
                </a:solidFill>
              </a:defRPr>
            </a:pPr>
            <a:r>
              <a:t>姓名：余凯楠  |  学号：202310012730  |  专业：网络工程  |  指导教师：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📋  目  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4C3D2"/>
                </a:solidFill>
              </a:defRPr>
            </a:pPr>
            <a:r>
              <a:t>01  项目背景与目标</a:t>
            </a:r>
          </a:p>
          <a:p>
            <a:pPr>
              <a:spcBef>
                <a:spcPts val="600"/>
              </a:spcBef>
              <a:defRPr sz="2000" b="0">
                <a:solidFill>
                  <a:srgbClr val="B4C3D2"/>
                </a:solidFill>
              </a:defRPr>
            </a:pPr>
            <a:r>
              <a:t>02  需求分析</a:t>
            </a:r>
          </a:p>
          <a:p>
            <a:pPr>
              <a:spcBef>
                <a:spcPts val="600"/>
              </a:spcBef>
              <a:defRPr sz="2000" b="0">
                <a:solidFill>
                  <a:srgbClr val="B4C3D2"/>
                </a:solidFill>
              </a:defRPr>
            </a:pPr>
            <a:r>
              <a:t>03  系统架构设计</a:t>
            </a:r>
          </a:p>
          <a:p>
            <a:pPr>
              <a:spcBef>
                <a:spcPts val="600"/>
              </a:spcBef>
              <a:defRPr sz="2000" b="0">
                <a:solidFill>
                  <a:srgbClr val="B4C3D2"/>
                </a:solidFill>
              </a:defRPr>
            </a:pPr>
            <a:r>
              <a:t>04  技术选型</a:t>
            </a:r>
          </a:p>
          <a:p>
            <a:pPr>
              <a:spcBef>
                <a:spcPts val="600"/>
              </a:spcBef>
              <a:defRPr sz="2000" b="0">
                <a:solidFill>
                  <a:srgbClr val="B4C3D2"/>
                </a:solidFill>
              </a:defRPr>
            </a:pPr>
            <a:r>
              <a:t>05  核心功能演示：系统监控</a:t>
            </a:r>
          </a:p>
          <a:p>
            <a:pPr>
              <a:spcBef>
                <a:spcPts val="600"/>
              </a:spcBef>
              <a:defRPr sz="2000" b="0">
                <a:solidFill>
                  <a:srgbClr val="B4C3D2"/>
                </a:solidFill>
              </a:defRPr>
            </a:pPr>
            <a:r>
              <a:t>06  核心功能演示：SSH远程运维</a:t>
            </a:r>
          </a:p>
          <a:p>
            <a:pPr>
              <a:spcBef>
                <a:spcPts val="600"/>
              </a:spcBef>
              <a:defRPr sz="2000" b="0">
                <a:solidFill>
                  <a:srgbClr val="B4C3D2"/>
                </a:solidFill>
              </a:defRPr>
            </a:pPr>
            <a:r>
              <a:t>07  核心功能演示：日志分析与安全检测</a:t>
            </a:r>
          </a:p>
          <a:p>
            <a:pPr>
              <a:spcBef>
                <a:spcPts val="600"/>
              </a:spcBef>
              <a:defRPr sz="2000" b="0">
                <a:solidFill>
                  <a:srgbClr val="B4C3D2"/>
                </a:solidFill>
              </a:defRPr>
            </a:pPr>
            <a:r>
              <a:t>08  核心功能演示：自动告警</a:t>
            </a:r>
          </a:p>
          <a:p>
            <a:pPr>
              <a:spcBef>
                <a:spcPts val="600"/>
              </a:spcBef>
              <a:defRPr sz="2000" b="0">
                <a:solidFill>
                  <a:srgbClr val="B4C3D2"/>
                </a:solidFill>
              </a:defRPr>
            </a:pPr>
            <a:r>
              <a:t>09  拓展功能：运维工具箱</a:t>
            </a:r>
          </a:p>
          <a:p>
            <a:pPr>
              <a:spcBef>
                <a:spcPts val="600"/>
              </a:spcBef>
              <a:defRPr sz="2000" b="0">
                <a:solidFill>
                  <a:srgbClr val="B4C3D2"/>
                </a:solidFill>
              </a:defRPr>
            </a:pPr>
            <a:r>
              <a:t>10  数据库设计</a:t>
            </a:r>
          </a:p>
          <a:p>
            <a:pPr>
              <a:spcBef>
                <a:spcPts val="600"/>
              </a:spcBef>
              <a:defRPr sz="2000" b="0">
                <a:solidFill>
                  <a:srgbClr val="B4C3D2"/>
                </a:solidFill>
              </a:defRPr>
            </a:pPr>
            <a:r>
              <a:t>11  模块联动流程</a:t>
            </a:r>
          </a:p>
          <a:p>
            <a:pPr>
              <a:spcBef>
                <a:spcPts val="600"/>
              </a:spcBef>
              <a:defRPr sz="2000" b="0">
                <a:solidFill>
                  <a:srgbClr val="B4C3D2"/>
                </a:solidFill>
              </a:defRPr>
            </a:pPr>
            <a:r>
              <a:t>12  项目目录结构</a:t>
            </a:r>
          </a:p>
          <a:p>
            <a:pPr>
              <a:spcBef>
                <a:spcPts val="600"/>
              </a:spcBef>
              <a:defRPr sz="2000" b="0">
                <a:solidFill>
                  <a:srgbClr val="B4C3D2"/>
                </a:solidFill>
              </a:defRPr>
            </a:pPr>
            <a:r>
              <a:t>13  项目亮点与创新</a:t>
            </a:r>
          </a:p>
          <a:p>
            <a:pPr>
              <a:spcBef>
                <a:spcPts val="600"/>
              </a:spcBef>
              <a:defRPr sz="2000" b="0">
                <a:solidFill>
                  <a:srgbClr val="B4C3D2"/>
                </a:solidFill>
              </a:defRPr>
            </a:pPr>
            <a:r>
              <a:t>14  演示流程</a:t>
            </a:r>
          </a:p>
          <a:p>
            <a:pPr>
              <a:spcBef>
                <a:spcPts val="600"/>
              </a:spcBef>
              <a:defRPr sz="2000" b="0">
                <a:solidFill>
                  <a:srgbClr val="B4C3D2"/>
                </a:solidFill>
              </a:defRPr>
            </a:pPr>
            <a:r>
              <a:t>15  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📋  01 项目背景与目标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4C3D2"/>
                </a:solidFill>
              </a:defRPr>
            </a:pPr>
            <a:r>
              <a:t>❌  运维效率低 — 服务器数量激增，人工逐台管理耗时耗力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❌  故障发现滞后 — 缺乏实时监控，问题出现后才被动响应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❌  日志分散难管理 — 各服务器日志独立，无法统一分析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❌  安全风险难预警 — 暴力破解、异常登录无法实时检测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❌  多服务器操作重复 — 逐台SSH登录执行相同命令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4C3D2"/>
                </a:solidFill>
              </a:defRPr>
            </a:pPr>
            <a:r>
              <a:t>✅  自动化监控 — CPU/内存/磁盘/网络自动采集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✅  远程批量运维 — SSH统一管理多台服务器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✅  日志统一分析 — 集中采集 + 异常检测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✅  智能告警 — 超阈值自动告警 + 邮件通知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✅  Web可视化 — 暗色主题仪表盘实时展示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✅  企业级模块化 — 标准化架构，可扩展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📋  02 需求分析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</a:defRPr>
            </a:pPr>
            <a:r>
              <a:t>功能需求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4C3D2"/>
                </a:solidFill>
              </a:defRPr>
            </a:pPr>
            <a:r>
              <a:t>• 系统监控：CPU/内存/磁盘/网络/进程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• SSH远程运维：登录/命令/传输/多服务器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• 日志管理：采集/分析/异常检测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• 自动告警：阈值/邮件/日志/Web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• Web可视化：仪表盘/图表/实时刷新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• 运维工具箱：扫描/DNS/进程管理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</a:defRPr>
            </a:pPr>
            <a:r>
              <a:t>非功能需求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4C3D2"/>
                </a:solidFill>
              </a:defRPr>
            </a:pPr>
            <a:r>
              <a:t>• 响应时间 &lt; 2秒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• 支持多服务器并行管理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• 数据存储稳定（SQLite）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• 暗色主题，适合长时间监控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• 一键启动，部署简单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• 模块化设计，便于扩展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🏗️  03 系统架构设计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C3D2"/>
                </a:solidFill>
              </a:defRPr>
            </a:pPr>
            <a:r>
              <a:t>B/S架构 · Flask + SQLite + Bootstrap + Chart.js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D4AA"/>
                </a:solidFill>
              </a:defRPr>
            </a:pPr>
            <a:br/>
            <a:r>
              <a:t>                    ┌──────────────────────────────────────┐</a:t>
            </a:r>
            <a:br/>
            <a:r>
              <a:t>                    │          Web管理后台 (Flask)          │</a:t>
            </a:r>
            <a:br/>
            <a:r>
              <a:t>                    │     Bootstrap 5  +  Chart.js 4       │</a:t>
            </a:r>
            <a:br/>
            <a:r>
              <a:t>                    └──────────────────┬───────────────────┘</a:t>
            </a:r>
            <a:br/>
            <a:r>
              <a:t>                                       │</a:t>
            </a:r>
            <a:br/>
            <a:r>
              <a:t>          ┌────────────────────────────┼────────────────────────────┐</a:t>
            </a:r>
            <a:br/>
            <a:r>
              <a:t>          │                            │                            │</a:t>
            </a:r>
            <a:br/>
            <a:r>
              <a:t>   ┌──────▼──────┐             ┌──────▼──────┐             ┌──────▼──────┐</a:t>
            </a:r>
            <a:br/>
            <a:r>
              <a:t>   │  系统监控   │             │  SSH远程    │             │  日志分析   │</a:t>
            </a:r>
            <a:br/>
            <a:r>
              <a:t>   │   psutil    │             │  Paramiko   │             │  re + log   │</a:t>
            </a:r>
            <a:br/>
            <a:r>
              <a:t>   │   schedule  │             │  Fabric     │             │             │</a:t>
            </a:r>
            <a:br/>
            <a:r>
              <a:t>   └──────┬──────┘             └──────┬──────┘             └──────┬──────┘</a:t>
            </a:r>
            <a:br/>
            <a:r>
              <a:t>          │                           │                           │</a:t>
            </a:r>
            <a:br/>
            <a:r>
              <a:t>          └───────────────────────────┼───────────────────────────┘</a:t>
            </a:r>
            <a:br/>
            <a:r>
              <a:t>                                      │</a:t>
            </a:r>
            <a:br/>
            <a:r>
              <a:t>                               ┌──────▼──────┐</a:t>
            </a:r>
            <a:br/>
            <a:r>
              <a:t>                               │  自动告警   │</a:t>
            </a:r>
            <a:br/>
            <a:r>
              <a:t>                               │ smtplib     │</a:t>
            </a:r>
            <a:br/>
            <a:r>
              <a:t>                               │ sqlite3     │</a:t>
            </a:r>
            <a:br/>
            <a:r>
              <a:t>                               └──────┬──────┘</a:t>
            </a:r>
            <a:br/>
            <a:r>
              <a:t>                                      │</a:t>
            </a:r>
            <a:br/>
            <a:r>
              <a:t>                               ┌──────▼──────┐</a:t>
            </a:r>
            <a:br/>
            <a:r>
              <a:t>                               │  SQLite DB  │</a:t>
            </a:r>
            <a:br/>
            <a:r>
              <a:t>                               └─────────────┘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🔧  04 技术选型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C3D2"/>
                </a:solidFill>
              </a:defRPr>
            </a:pPr>
            <a:r>
              <a:t>4个课程核心库 + 前端框架 + 数据库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</a:defRPr>
            </a:pPr>
            <a:r>
              <a:t>课程核心库（4个）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58A6FF"/>
                </a:solidFill>
              </a:defRPr>
            </a:pPr>
            <a:r>
              <a:t>psutil 5.9      系统监控（CPU/内存/磁盘/进程）</a:t>
            </a:r>
          </a:p>
          <a:p>
            <a:pPr>
              <a:spcBef>
                <a:spcPts val="600"/>
              </a:spcBef>
              <a:defRPr sz="1700" b="0">
                <a:solidFill>
                  <a:srgbClr val="58A6FF"/>
                </a:solidFill>
              </a:defRPr>
            </a:pPr>
            <a:r>
              <a:t>Paramiko 3.4    SSH远程运维（登录/命令/传输）</a:t>
            </a:r>
          </a:p>
          <a:p>
            <a:pPr>
              <a:spcBef>
                <a:spcPts val="600"/>
              </a:spcBef>
              <a:defRPr sz="1700" b="0">
                <a:solidFill>
                  <a:srgbClr val="58A6FF"/>
                </a:solidFill>
              </a:defRPr>
            </a:pPr>
            <a:r>
              <a:t>schedule 1.2    定时任务调度（自动采集）</a:t>
            </a:r>
          </a:p>
          <a:p>
            <a:pPr>
              <a:spcBef>
                <a:spcPts val="600"/>
              </a:spcBef>
              <a:defRPr sz="1700" b="0">
                <a:solidFill>
                  <a:srgbClr val="58A6FF"/>
                </a:solidFill>
              </a:defRPr>
            </a:pPr>
            <a:r>
              <a:t>Fabric          批量运维（多服务器管理）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</a:defRPr>
            </a:pPr>
            <a:r>
              <a:t>Web框架 + 前端 + 数据库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4C3D2"/>
                </a:solidFill>
              </a:defRPr>
            </a:pPr>
            <a:r>
              <a:t>Flask 3.0       Python Web框架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SQLite 3        嵌入式数据库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Bootstrap 5.3   响应式前端UI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Chart.js 4.4    数据可视化图表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smtplib          邮件告警</a:t>
            </a:r>
          </a:p>
          <a:p>
            <a:pPr>
              <a:spcBef>
                <a:spcPts val="600"/>
              </a:spcBef>
              <a:defRPr sz="1700" b="0">
                <a:solidFill>
                  <a:srgbClr val="B4C3D2"/>
                </a:solidFill>
              </a:defRPr>
            </a:pPr>
            <a:r>
              <a:t>logging          日志系统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📊  05 核心功能：系统监控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C3D2"/>
                </a:solidFill>
              </a:defRPr>
            </a:pPr>
            <a:r>
              <a:t>技术栈：psutil +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4C3D2"/>
                </a:solidFill>
              </a:defRPr>
            </a:pPr>
            <a:r>
              <a:t>• CPU使用率实时监控（psutil.cpu_percent）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内存使用率监控（psutil.virtual_memory）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磁盘使用率监控（psutil.disk_usage）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网络流量监控（psutil.net_io_counters）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进程列表监控（psutil.process_iter）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后台线程每10秒自动采集（schedule）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数据存入SQLite数据库（server_status表）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前端Chart.js实时趋势图表展示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超阈值自动触发告警（CPU&gt;80%/内存&gt;85%/磁盘&gt;90%）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29922"/>
                </a:solidFill>
              </a:defRPr>
            </a:pPr>
            <a:r>
              <a:t>告警阈值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46888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29922"/>
                </a:solidFill>
              </a:defRPr>
            </a:pPr>
            <a:r>
              <a:t>CPU    &gt; 80%  ⚠️</a:t>
            </a:r>
          </a:p>
          <a:p>
            <a:pPr>
              <a:spcBef>
                <a:spcPts val="600"/>
              </a:spcBef>
              <a:defRPr sz="1800" b="0">
                <a:solidFill>
                  <a:srgbClr val="D29922"/>
                </a:solidFill>
              </a:defRPr>
            </a:pPr>
            <a:r>
              <a:t>内存  &gt; 85%  ⚠️</a:t>
            </a:r>
          </a:p>
          <a:p>
            <a:pPr>
              <a:spcBef>
                <a:spcPts val="600"/>
              </a:spcBef>
              <a:defRPr sz="1800" b="0">
                <a:solidFill>
                  <a:srgbClr val="DA3633"/>
                </a:solidFill>
              </a:defRPr>
            </a:pPr>
            <a:r>
              <a:t>磁盘  &gt; 90%  🔴</a:t>
            </a:r>
          </a:p>
          <a:p>
            <a:pPr>
              <a:spcBef>
                <a:spcPts val="600"/>
              </a:spcBef>
              <a:defRPr sz="1400" b="0">
                <a:solidFill>
                  <a:srgbClr val="B4C3D2"/>
                </a:solidFill>
              </a:defRPr>
            </a:pPr>
          </a:p>
          <a:p>
            <a:pPr>
              <a:spcBef>
                <a:spcPts val="600"/>
              </a:spcBef>
              <a:defRPr sz="1800" b="1">
                <a:solidFill>
                  <a:srgbClr val="22C55E"/>
                </a:solidFill>
              </a:defRPr>
            </a:pPr>
            <a:r>
              <a:t>演示：打开仪表盘</a:t>
            </a:r>
          </a:p>
          <a:p>
            <a:pPr>
              <a:spcBef>
                <a:spcPts val="600"/>
              </a:spcBef>
              <a:defRPr sz="1800" b="0">
                <a:solidFill>
                  <a:srgbClr val="22C55E"/>
                </a:solidFill>
              </a:defRPr>
            </a:pPr>
            <a:r>
              <a:t>展示实时数据跳动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🖥️  06 核心功能：SSH远程运维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C3D2"/>
                </a:solidFill>
              </a:defRPr>
            </a:pPr>
            <a:r>
              <a:t>技术栈：Paramiko +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4C3D2"/>
                </a:solidFill>
              </a:defRPr>
            </a:pPr>
            <a:r>
              <a:t>• SSH密码登录（paramiko.SSHClient）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SSH密钥认证登录（paramiko.RSAKey）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远程执行Linux命令（exec_command）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sudo提权执行（stdin.write + sudo -S）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SFTP文件上传下载（paramiko.SFTPClient）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多服务器批量管理（batch_exec）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Fabric批量运维（多服务器同时操作）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Web终端式操作界面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快捷命令按钮（df -h / free -m / top / netstat）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操作日志审计（所有命令记入operation_logs表）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演示命令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46888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22C55E"/>
                </a:solidFill>
              </a:defRPr>
            </a:pPr>
            <a:r>
              <a:t>$ df -h</a:t>
            </a:r>
          </a:p>
          <a:p>
            <a:pPr>
              <a:spcBef>
                <a:spcPts val="600"/>
              </a:spcBef>
              <a:defRPr sz="1700" b="0">
                <a:solidFill>
                  <a:srgbClr val="22C55E"/>
                </a:solidFill>
              </a:defRPr>
            </a:pPr>
            <a:r>
              <a:t>$ free -m</a:t>
            </a:r>
          </a:p>
          <a:p>
            <a:pPr>
              <a:spcBef>
                <a:spcPts val="600"/>
              </a:spcBef>
              <a:defRPr sz="1700" b="0">
                <a:solidFill>
                  <a:srgbClr val="22C55E"/>
                </a:solidFill>
              </a:defRPr>
            </a:pPr>
            <a:r>
              <a:t>$ top -bn1 | head -20</a:t>
            </a:r>
          </a:p>
          <a:p>
            <a:pPr>
              <a:spcBef>
                <a:spcPts val="600"/>
              </a:spcBef>
              <a:defRPr sz="1700" b="0">
                <a:solidFill>
                  <a:srgbClr val="22C55E"/>
                </a:solidFill>
              </a:defRPr>
            </a:pPr>
            <a:r>
              <a:t>$ uname -a</a:t>
            </a:r>
          </a:p>
          <a:p>
            <a:pPr>
              <a:spcBef>
                <a:spcPts val="600"/>
              </a:spcBef>
              <a:defRPr sz="1700" b="0">
                <a:solidFill>
                  <a:srgbClr val="22C55E"/>
                </a:solidFill>
              </a:defRPr>
            </a:pPr>
            <a:r>
              <a:t>$ netstat -tlnp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🛡️  07 核心功能：日志分析与安全检测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C3D2"/>
                </a:solidFill>
              </a:defRPr>
            </a:pPr>
            <a:r>
              <a:t>技术栈：logging + 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4C3D2"/>
                </a:solidFill>
              </a:defRPr>
            </a:pPr>
            <a:r>
              <a:t>• 平台运行日志采集（logging模块）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Linux认证日志分析（/var/log/auth.log）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关键词匹配检测（Failed password等11个关键词）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正则表达式提取攻击源IP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暴力破解攻击自动识别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异常行为检测（OOM/kernel panic/磁盘满）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安全分析报告生成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日志统计图表展示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A3633"/>
                </a:solidFill>
              </a:defRPr>
            </a:pPr>
            <a:r>
              <a:t>检测能力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46888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C55E"/>
                </a:solidFill>
              </a:defRPr>
            </a:pPr>
            <a:r>
              <a:t>✅ 暴力破解检测</a:t>
            </a:r>
          </a:p>
          <a:p>
            <a:pPr>
              <a:spcBef>
                <a:spcPts val="600"/>
              </a:spcBef>
              <a:defRPr sz="1600" b="0">
                <a:solidFill>
                  <a:srgbClr val="22C55E"/>
                </a:solidFill>
              </a:defRPr>
            </a:pPr>
            <a:r>
              <a:t>✅ 异常登录检测</a:t>
            </a:r>
          </a:p>
          <a:p>
            <a:pPr>
              <a:spcBef>
                <a:spcPts val="600"/>
              </a:spcBef>
              <a:defRPr sz="1600" b="0">
                <a:solidFill>
                  <a:srgbClr val="22C55E"/>
                </a:solidFill>
              </a:defRPr>
            </a:pPr>
            <a:r>
              <a:t>✅ 系统崩溃检测</a:t>
            </a:r>
          </a:p>
          <a:p>
            <a:pPr>
              <a:spcBef>
                <a:spcPts val="600"/>
              </a:spcBef>
              <a:defRPr sz="1600" b="0">
                <a:solidFill>
                  <a:srgbClr val="22C55E"/>
                </a:solidFill>
              </a:defRPr>
            </a:pPr>
            <a:r>
              <a:t>✅ 磁盘满检测</a:t>
            </a:r>
          </a:p>
          <a:p>
            <a:pPr>
              <a:spcBef>
                <a:spcPts val="600"/>
              </a:spcBef>
              <a:defRPr sz="1600" b="0">
                <a:solidFill>
                  <a:srgbClr val="22C55E"/>
                </a:solidFill>
              </a:defRPr>
            </a:pPr>
            <a:r>
              <a:t>✅ OOM检测</a:t>
            </a:r>
          </a:p>
          <a:p>
            <a:pPr>
              <a:spcBef>
                <a:spcPts val="600"/>
              </a:spcBef>
              <a:defRPr sz="1200" b="0">
                <a:solidFill>
                  <a:srgbClr val="B4C3D2"/>
                </a:solidFill>
              </a:defRPr>
            </a:pPr>
          </a:p>
          <a:p>
            <a:pPr>
              <a:spcBef>
                <a:spcPts val="600"/>
              </a:spcBef>
              <a:defRPr sz="1600" b="1">
                <a:solidFill>
                  <a:srgbClr val="D29922"/>
                </a:solidFill>
              </a:defRPr>
            </a:pPr>
            <a:r>
              <a:t>演示：点击分析日志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🔔  08 核心功能：自动告警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C3D2"/>
                </a:solidFill>
              </a:defRPr>
            </a:pPr>
            <a:r>
              <a:t>技术栈：smtplib + sqlite3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4C3D2"/>
                </a:solidFill>
              </a:defRPr>
            </a:pPr>
            <a:r>
              <a:t>• 三级告警级别：INFO / WARNING / CRITICAL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CPU超过80% → 自动告警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内存超过85% → 自动告警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磁盘超过90% → 紧急告警（CRITICAL）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告警存入SQLite数据库（alerts表）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Web页面实时展示告警记录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CRITICAL级别自动发送邮件通知</a:t>
            </a:r>
          </a:p>
          <a:p>
            <a:pPr>
              <a:spcBef>
                <a:spcPts val="600"/>
              </a:spcBef>
              <a:defRPr sz="1800" b="0">
                <a:solidFill>
                  <a:srgbClr val="B4C3D2"/>
                </a:solidFill>
              </a:defRPr>
            </a:pPr>
            <a:r>
              <a:t>• 告警页面按级别分类统计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29922"/>
                </a:solidFill>
              </a:defRPr>
            </a:pPr>
            <a:r>
              <a:t>告警流程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46888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8A6FF"/>
                </a:solidFill>
              </a:defRPr>
            </a:pPr>
            <a:r>
              <a:t>采集数据</a:t>
            </a:r>
          </a:p>
          <a:p>
            <a:pPr>
              <a:spcBef>
                <a:spcPts val="600"/>
              </a:spcBef>
              <a:defRPr sz="1500" b="0">
                <a:solidFill>
                  <a:srgbClr val="00D4AA"/>
                </a:solidFill>
              </a:defRPr>
            </a:pPr>
            <a:r>
              <a:t>  ↓</a:t>
            </a:r>
          </a:p>
          <a:p>
            <a:pPr>
              <a:spcBef>
                <a:spcPts val="600"/>
              </a:spcBef>
              <a:defRPr sz="1500" b="0">
                <a:solidFill>
                  <a:srgbClr val="58A6FF"/>
                </a:solidFill>
              </a:defRPr>
            </a:pPr>
            <a:r>
              <a:t>对比阈值</a:t>
            </a:r>
          </a:p>
          <a:p>
            <a:pPr>
              <a:spcBef>
                <a:spcPts val="600"/>
              </a:spcBef>
              <a:defRPr sz="1500" b="0">
                <a:solidFill>
                  <a:srgbClr val="00D4AA"/>
                </a:solidFill>
              </a:defRPr>
            </a:pPr>
            <a:r>
              <a:t>  ↓</a:t>
            </a:r>
          </a:p>
          <a:p>
            <a:pPr>
              <a:spcBef>
                <a:spcPts val="600"/>
              </a:spcBef>
              <a:defRPr sz="1500" b="0">
                <a:solidFill>
                  <a:srgbClr val="58A6FF"/>
                </a:solidFill>
              </a:defRPr>
            </a:pPr>
            <a:r>
              <a:t>写入数据库</a:t>
            </a:r>
          </a:p>
          <a:p>
            <a:pPr>
              <a:spcBef>
                <a:spcPts val="600"/>
              </a:spcBef>
              <a:defRPr sz="1500" b="0">
                <a:solidFill>
                  <a:srgbClr val="00D4AA"/>
                </a:solidFill>
              </a:defRPr>
            </a:pPr>
            <a:r>
              <a:t>  ↓</a:t>
            </a:r>
          </a:p>
          <a:p>
            <a:pPr>
              <a:spcBef>
                <a:spcPts val="600"/>
              </a:spcBef>
              <a:defRPr sz="1500" b="0">
                <a:solidFill>
                  <a:srgbClr val="58A6FF"/>
                </a:solidFill>
              </a:defRPr>
            </a:pPr>
            <a:r>
              <a:t>Web展示 + 邮件</a:t>
            </a:r>
          </a:p>
          <a:p>
            <a:pPr>
              <a:spcBef>
                <a:spcPts val="600"/>
              </a:spcBef>
              <a:defRPr sz="1200" b="0">
                <a:solidFill>
                  <a:srgbClr val="B4C3D2"/>
                </a:solidFill>
              </a:defRPr>
            </a:pPr>
          </a:p>
          <a:p>
            <a:pPr>
              <a:spcBef>
                <a:spcPts val="600"/>
              </a:spcBef>
              <a:defRPr sz="1500" b="1">
                <a:solidFill>
                  <a:srgbClr val="D29922"/>
                </a:solidFill>
              </a:defRPr>
            </a:pPr>
            <a:r>
              <a:t>演示：yes &gt; /dev/null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🛠️  09 拓展功能：运维工具箱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C3D2"/>
                </a:solidFill>
              </a:defRPr>
            </a:pPr>
            <a:r>
              <a:t>整合课程实验01-08的知识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0">
                <a:solidFill>
                  <a:srgbClr val="B4C3D2"/>
                </a:solidFill>
              </a:defRPr>
            </a:pPr>
            <a:r>
              <a:t>📡  批量主机存活检测 — 多线程Ping扫描（实验01）</a:t>
            </a:r>
          </a:p>
          <a:p>
            <a:pPr>
              <a:spcBef>
                <a:spcPts val="600"/>
              </a:spcBef>
              <a:defRPr sz="1900" b="0">
                <a:solidFill>
                  <a:srgbClr val="B4C3D2"/>
                </a:solidFill>
              </a:defRPr>
            </a:pPr>
            <a:r>
              <a:t>🔍  TCP端口扫描 — 常见服务识别（实验07）</a:t>
            </a:r>
          </a:p>
          <a:p>
            <a:pPr>
              <a:spcBef>
                <a:spcPts val="600"/>
              </a:spcBef>
              <a:defRPr sz="1900" b="0">
                <a:solidFill>
                  <a:srgbClr val="B4C3D2"/>
                </a:solidFill>
              </a:defRPr>
            </a:pPr>
            <a:r>
              <a:t>🌐  DNS域名解析 — A记录解析（实验07）</a:t>
            </a:r>
          </a:p>
          <a:p>
            <a:pPr>
              <a:spcBef>
                <a:spcPts val="600"/>
              </a:spcBef>
              <a:defRPr sz="1900" b="0">
                <a:solidFill>
                  <a:srgbClr val="B4C3D2"/>
                </a:solidFill>
              </a:defRPr>
            </a:pPr>
            <a:r>
              <a:t>⚙️  进程管理 — 查看/排序/终止进程（实验02）</a:t>
            </a:r>
          </a:p>
          <a:p>
            <a:pPr>
              <a:spcBef>
                <a:spcPts val="600"/>
              </a:spcBef>
              <a:defRPr sz="1900" b="0">
                <a:solidFill>
                  <a:srgbClr val="B4C3D2"/>
                </a:solidFill>
              </a:defRPr>
            </a:pPr>
            <a:r>
              <a:t>📊  HTML巡检报告 — 自动生成可视化报告（实验03）</a:t>
            </a:r>
          </a:p>
          <a:p>
            <a:pPr>
              <a:spcBef>
                <a:spcPts val="600"/>
              </a:spcBef>
              <a:defRPr sz="1900" b="0">
                <a:solidFill>
                  <a:srgbClr val="B4C3D2"/>
                </a:solidFill>
              </a:defRPr>
            </a:pPr>
            <a:r>
              <a:t>📄  CSV数据导出 — 监控数据导出为表格（实验05）</a:t>
            </a:r>
          </a:p>
          <a:p>
            <a:pPr>
              <a:spcBef>
                <a:spcPts val="600"/>
              </a:spcBef>
              <a:defRPr sz="1900" b="0">
                <a:solidFill>
                  <a:srgbClr val="B4C3D2"/>
                </a:solidFill>
              </a:defRPr>
            </a:pPr>
            <a:r>
              <a:t>📋  Ansible Playbook — 系统初始化/批量用户（实验08）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💾  10 数据库设计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C3D2"/>
                </a:solidFill>
              </a:defRPr>
            </a:pPr>
            <a:r>
              <a:t>SQLite · 4张核心数据表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</a:defRPr>
            </a:pPr>
            <a:r>
              <a:t>server_status（服务器状态）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C3D2"/>
                </a:solidFill>
              </a:defRPr>
            </a:pPr>
            <a:r>
              <a:t>id  INTEGER PK</a:t>
            </a:r>
            <a:br/>
            <a:r>
              <a:t> cpu  REAL</a:t>
            </a:r>
            <a:br/>
            <a:r>
              <a:t> memory  REAL</a:t>
            </a:r>
            <a:br/>
            <a:r>
              <a:t> disk  REAL</a:t>
            </a:r>
            <a:br/>
            <a:r>
              <a:t> network_sent  REAL</a:t>
            </a:r>
            <a:br/>
            <a:r>
              <a:t> network_recv  REAL</a:t>
            </a:r>
            <a:br/>
            <a:r>
              <a:t> process_count  INT</a:t>
            </a:r>
            <a:br/>
            <a:r>
              <a:t> create_time  TIMESTAMP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</a:defRPr>
            </a:pPr>
            <a:r>
              <a:t>alerts（告警记录）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288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C3D2"/>
                </a:solidFill>
              </a:defRPr>
            </a:pPr>
            <a:r>
              <a:t>id  INTEGER PK</a:t>
            </a:r>
            <a:br/>
            <a:r>
              <a:t> level  TEXT</a:t>
            </a:r>
            <a:br/>
            <a:r>
              <a:t> module  TEXT</a:t>
            </a:r>
            <a:br/>
            <a:r>
              <a:t> message  TEXT</a:t>
            </a:r>
            <a:br/>
            <a:r>
              <a:t> is_resolved  INT</a:t>
            </a:r>
            <a:br/>
            <a:r>
              <a:t> create_time  TIMESTAMP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</a:defRPr>
            </a:pPr>
            <a:r>
              <a:t>ssh_hosts（SSH主机）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8288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C3D2"/>
                </a:solidFill>
              </a:defRPr>
            </a:pPr>
            <a:r>
              <a:t>id  INTEGER PK</a:t>
            </a:r>
            <a:br/>
            <a:r>
              <a:t> hostname  TEXT</a:t>
            </a:r>
            <a:br/>
            <a:r>
              <a:t> port  INTEGER</a:t>
            </a:r>
            <a:br/>
            <a:r>
              <a:t> username  TEXT</a:t>
            </a:r>
            <a:br/>
            <a:r>
              <a:t> password  TEXT</a:t>
            </a:r>
            <a:br/>
            <a:r>
              <a:t> description  TEXT</a:t>
            </a:r>
            <a:br/>
            <a:r>
              <a:t> status 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D4AA"/>
                </a:solidFill>
              </a:defRPr>
            </a:pPr>
            <a:r>
              <a:t>operation_logs（操作日志）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82880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4C3D2"/>
                </a:solidFill>
              </a:defRPr>
            </a:pPr>
            <a:r>
              <a:t>id  INTEGER PK</a:t>
            </a:r>
            <a:br/>
            <a:r>
              <a:t> operator  TEXT</a:t>
            </a:r>
            <a:br/>
            <a:r>
              <a:t> action  TEXT</a:t>
            </a:r>
            <a:br/>
            <a:r>
              <a:t> target  TEXT</a:t>
            </a:r>
            <a:br/>
            <a:r>
              <a:t> result  TEXT</a:t>
            </a:r>
            <a:br/>
            <a:r>
              <a:t> create_time  TIMESTAMP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8A6FF"/>
                </a:solidFill>
              </a:defRPr>
            </a:pPr>
            <a:r>
              <a:t>关联关系：server_status 和 alerts 通过时间关联；ssh_hosts 和 operation_logs 通过主机信息关联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🔗  11 模块联动流程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C3D2"/>
                </a:solidFill>
              </a:defRPr>
            </a:pPr>
            <a:r>
              <a:t>监控 → 分析 → 告警 → SSH处理 → 日志记录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144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AA"/>
                </a:solidFill>
              </a:defRPr>
            </a:pPr>
            <a:br/>
            <a:r>
              <a:t>    ┌─────────────┐     ┌─────────────┐     ┌─────────────┐</a:t>
            </a:r>
            <a:br/>
            <a:r>
              <a:t>    │  psutil     │     │  schedule   │     │  SQLite     │</a:t>
            </a:r>
            <a:br/>
            <a:r>
              <a:t>    │  系统采集   │────▶│  定时调度   │────▶│  数据存储   │</a:t>
            </a:r>
            <a:br/>
            <a:r>
              <a:t>    └─────────────┘     └──────┬──────┘     └─────────────┘</a:t>
            </a:r>
            <a:br/>
            <a:r>
              <a:t>                               │</a:t>
            </a:r>
            <a:br/>
            <a:r>
              <a:t>                               ▼</a:t>
            </a:r>
            <a:br/>
            <a:r>
              <a:t>                        ┌─────────────┐</a:t>
            </a:r>
            <a:br/>
            <a:r>
              <a:t>                        │  阈值检测   │</a:t>
            </a:r>
            <a:br/>
            <a:r>
              <a:t>                        │  CPU&gt;80%?   │</a:t>
            </a:r>
            <a:br/>
            <a:r>
              <a:t>                        └──────┬──────┘</a:t>
            </a:r>
            <a:br/>
            <a:r>
              <a:t>                               │ 异常</a:t>
            </a:r>
            <a:br/>
            <a:r>
              <a:t>                               ▼</a:t>
            </a:r>
            <a:br/>
            <a:r>
              <a:t>              ┌────────────────────────────────┐</a:t>
            </a:r>
            <a:br/>
            <a:r>
              <a:t>              │         自动告警模块            │</a:t>
            </a:r>
            <a:br/>
            <a:r>
              <a:t>              │  记录数据库 | Web展示 | 邮件    │</a:t>
            </a:r>
            <a:br/>
            <a:r>
              <a:t>              └────────────────┬───────────────┘</a:t>
            </a:r>
            <a:br/>
            <a:r>
              <a:t>                               │</a:t>
            </a:r>
            <a:br/>
            <a:r>
              <a:t>                               ▼</a:t>
            </a:r>
            <a:br/>
            <a:r>
              <a:t>                        ┌─────────────┐</a:t>
            </a:r>
            <a:br/>
            <a:r>
              <a:t>                        │  Paramiko   │</a:t>
            </a:r>
            <a:br/>
            <a:r>
              <a:t>                        │  SSH远程处理│</a:t>
            </a:r>
            <a:br/>
            <a:r>
              <a:t>                        └──────┬──────┘</a:t>
            </a:r>
            <a:br/>
            <a:r>
              <a:t>                               │</a:t>
            </a:r>
            <a:br/>
            <a:r>
              <a:t>                               ▼</a:t>
            </a:r>
            <a:br/>
            <a:r>
              <a:t>                        ┌─────────────┐</a:t>
            </a:r>
            <a:br/>
            <a:r>
              <a:t>                        │  logging    │</a:t>
            </a:r>
            <a:br/>
            <a:r>
              <a:t>                        │  操作审计   │</a:t>
            </a:r>
            <a:br/>
            <a:r>
              <a:t>                        └─────────────┘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📁  12 项目目录结构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12970" y="464820"/>
            <a:ext cx="3274060" cy="2425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600" b="0">
                <a:solidFill>
                  <a:srgbClr val="B4C3D2"/>
                </a:solidFill>
              </a:defRPr>
            </a:pPr>
            <a:r>
              <a:t>7个独立模块 · 模块化设计 · 低耦合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059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4C3D2"/>
                </a:solidFill>
              </a:defRPr>
            </a:pPr>
            <a:r>
              <a:t>AutoOps/</a:t>
            </a:r>
            <a:br/>
            <a:r>
              <a:t>├── app.py                  # 主入口（Flask路由 + 启动）</a:t>
            </a:r>
            <a:br/>
            <a:r>
              <a:t>├── run.py                  # 一键运行脚本</a:t>
            </a:r>
            <a:br/>
            <a:r>
              <a:t>├── requirements.txt        # 依赖清单（4个核心库）</a:t>
            </a:r>
            <a:br/>
            <a:r>
              <a:t>│</a:t>
            </a:r>
            <a:br/>
            <a:r>
              <a:t>├── config/                 # 配置模块（端口/阈值/邮件）</a:t>
            </a:r>
            <a:br/>
            <a:r>
              <a:t>│   └── settings.py</a:t>
            </a:r>
            <a:br/>
            <a:r>
              <a:t>├── monitor/                # 系统监控模块（psutil + schedule）</a:t>
            </a:r>
            <a:br/>
            <a:r>
              <a:t>│   ├── system_monitor.py</a:t>
            </a:r>
            <a:br/>
            <a:r>
              <a:t>│   └── scheduler.py</a:t>
            </a:r>
            <a:br/>
            <a:r>
              <a:t>├── remote/                 # SSH远程运维模块（Paramiko + Fabric）</a:t>
            </a:r>
            <a:br/>
            <a:r>
              <a:t>│   ├── ssh_manager.py</a:t>
            </a:r>
            <a:br/>
            <a:r>
              <a:t>│   ├── ssh_key.py</a:t>
            </a:r>
            <a:br/>
            <a:r>
              <a:t>│   └── fabric_ops.py</a:t>
            </a:r>
            <a:br/>
            <a:r>
              <a:t>├── security/               # 日志分析模块（re + logging）</a:t>
            </a:r>
            <a:br/>
            <a:r>
              <a:t>│   └── log_analyzer.py</a:t>
            </a:r>
            <a:br/>
            <a:r>
              <a:t>├── alert/                  # 自动告警模块（smtplib + sqlite3）</a:t>
            </a:r>
            <a:br/>
            <a:r>
              <a:t>│   └── alert_manager.py</a:t>
            </a:r>
            <a:br/>
            <a:r>
              <a:t>├── tools/                  # 运维工具箱（拓展功能）</a:t>
            </a:r>
            <a:br/>
            <a:r>
              <a:t>│   ├── ping_scan.py        # 主机扫描</a:t>
            </a:r>
            <a:br/>
            <a:r>
              <a:t>│   ├── port_scan.py        # 端口扫描 + DNS</a:t>
            </a:r>
            <a:br/>
            <a:r>
              <a:t>│   ├── process_mgr.py      # 进程管理</a:t>
            </a:r>
            <a:br/>
            <a:r>
              <a:t>│   ├── report_gen.py       # 报告生成</a:t>
            </a:r>
            <a:br/>
            <a:r>
              <a:t>│   └── ansible/            # Ansible Playbook</a:t>
            </a:r>
            <a:br/>
            <a:r>
              <a:t>├── templates/              # Web页面（5个）</a:t>
            </a:r>
            <a:br/>
            <a:r>
              <a:t>├── static/                 # CSS + JS</a:t>
            </a:r>
            <a:br/>
            <a:r>
              <a:t>├── database/               # SQL + SQLite数据库</a:t>
            </a:r>
            <a:br/>
            <a:r>
              <a:t>├── shell/                  # Linux运维脚本</a:t>
            </a:r>
            <a:br/>
            <a:r>
              <a:t>└── docs/                   # 项目文档（PPT/Word/架构图）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⭐  13 项目亮点与创新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D4AA"/>
                </a:solidFill>
              </a:defRPr>
            </a:pPr>
            <a:r>
              <a:t>✅  企业级模块化架构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C3D2"/>
                </a:solidFill>
              </a:defRPr>
            </a:pPr>
            <a:r>
              <a:t>7个独立模块，接口标准化，耦合度低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D4AA"/>
                </a:solidFill>
              </a:defRPr>
            </a:pPr>
            <a:r>
              <a:t>✅  4个课程核心库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C3D2"/>
                </a:solidFill>
              </a:defRPr>
            </a:pPr>
            <a:r>
              <a:t>psutil + Paramiko + schedule + Fabric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D4AA"/>
                </a:solidFill>
              </a:defRPr>
            </a:pPr>
            <a:r>
              <a:t>✅  自动化监控与告警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260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C3D2"/>
                </a:solidFill>
              </a:defRPr>
            </a:pPr>
            <a:r>
              <a:t>后台线程自动采集，超阈值自动告警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D4AA"/>
                </a:solidFill>
              </a:defRPr>
            </a:pPr>
            <a:r>
              <a:t>✅  模块联动闭环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9260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C3D2"/>
                </a:solidFill>
              </a:defRPr>
            </a:pPr>
            <a:r>
              <a:t>监控→分析→告警→SSH处理→日志审计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D4AA"/>
                </a:solidFill>
              </a:defRPr>
            </a:pPr>
            <a:r>
              <a:t>✅  Web可视化仪表盘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C3D2"/>
                </a:solidFill>
              </a:defRPr>
            </a:pPr>
            <a:r>
              <a:t>暗色主题，Chart.js实时图表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D4AA"/>
                </a:solidFill>
              </a:defRPr>
            </a:pPr>
            <a:r>
              <a:t>✅  日志安全分析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C3D2"/>
                </a:solidFill>
              </a:defRPr>
            </a:pPr>
            <a:r>
              <a:t>暴力破解检测，正则提取攻击IP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D4AA"/>
                </a:solidFill>
              </a:defRPr>
            </a:pPr>
            <a:r>
              <a:t>✅  运维工具箱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C3D2"/>
                </a:solidFill>
              </a:defRPr>
            </a:pPr>
            <a:r>
              <a:t>整合8个课程实验的知识点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937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00D4AA"/>
                </a:solidFill>
              </a:defRPr>
            </a:pPr>
            <a:r>
              <a:t>✅  完整项目文档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C3D2"/>
                </a:solidFill>
              </a:defRPr>
            </a:pPr>
            <a:r>
              <a:t>设计方案书+用户手册+部署文档+PPT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📝  14 代码质量展示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</a:defRPr>
            </a:pPr>
            <a:r>
              <a:t>模块化设计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C3D2"/>
                </a:solidFill>
              </a:defRPr>
            </a:pPr>
            <a:r>
              <a:t>• 7个独立Python模块（monitor/remote/security/alert/tools/config/shell）</a:t>
            </a:r>
          </a:p>
          <a:p>
            <a:pPr>
              <a:spcBef>
                <a:spcPts val="600"/>
              </a:spcBef>
              <a:defRPr sz="1500" b="0">
                <a:solidFill>
                  <a:srgbClr val="B4C3D2"/>
                </a:solidFill>
              </a:defRPr>
            </a:pPr>
            <a:r>
              <a:t>• 每个模块单一职责，对外暴露类和方法</a:t>
            </a:r>
          </a:p>
          <a:p>
            <a:pPr>
              <a:spcBef>
                <a:spcPts val="600"/>
              </a:spcBef>
              <a:defRPr sz="1500" b="0">
                <a:solidFill>
                  <a:srgbClr val="B4C3D2"/>
                </a:solidFill>
              </a:defRPr>
            </a:pPr>
            <a:r>
              <a:t>• 模块间通过Flask路由和SQLite数据库交互</a:t>
            </a:r>
          </a:p>
          <a:p>
            <a:pPr>
              <a:spcBef>
                <a:spcPts val="600"/>
              </a:spcBef>
              <a:defRPr sz="1500" b="0">
                <a:solidFill>
                  <a:srgbClr val="B4C3D2"/>
                </a:solidFill>
              </a:defRPr>
            </a:pPr>
            <a:r>
              <a:t>• 低耦合高内聚，便于扩展和维护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</a:defRPr>
            </a:pPr>
            <a:r>
              <a:t>编码规范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C3D2"/>
                </a:solidFill>
              </a:defRPr>
            </a:pPr>
            <a:r>
              <a:t>• 所有.py文件100% docstring覆盖率</a:t>
            </a:r>
          </a:p>
          <a:p>
            <a:pPr>
              <a:spcBef>
                <a:spcPts val="600"/>
              </a:spcBef>
              <a:defRPr sz="1500" b="0">
                <a:solidFill>
                  <a:srgbClr val="B4C3D2"/>
                </a:solidFill>
              </a:defRPr>
            </a:pPr>
            <a:r>
              <a:t>• 所有类/函数有完整参数说明</a:t>
            </a:r>
          </a:p>
          <a:p>
            <a:pPr>
              <a:spcBef>
                <a:spcPts val="600"/>
              </a:spcBef>
              <a:defRPr sz="1500" b="0">
                <a:solidFill>
                  <a:srgbClr val="B4C3D2"/>
                </a:solidFill>
              </a:defRPr>
            </a:pPr>
            <a:r>
              <a:t>• 命名统一规范（驼峰类名/下划线变量）</a:t>
            </a:r>
          </a:p>
          <a:p>
            <a:pPr>
              <a:spcBef>
                <a:spcPts val="600"/>
              </a:spcBef>
              <a:defRPr sz="1500" b="0">
                <a:solidFill>
                  <a:srgbClr val="B4C3D2"/>
                </a:solidFill>
              </a:defRPr>
            </a:pPr>
            <a:r>
              <a:t>• 关键逻辑有行内注释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</a:defRPr>
            </a:pPr>
            <a:r>
              <a:t>异常处理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C3D2"/>
                </a:solidFill>
              </a:defRPr>
            </a:pPr>
            <a:r>
              <a:t>• 所有API接口有try/except保护</a:t>
            </a:r>
          </a:p>
          <a:p>
            <a:pPr>
              <a:spcBef>
                <a:spcPts val="600"/>
              </a:spcBef>
              <a:defRPr sz="1500" b="0">
                <a:solidFill>
                  <a:srgbClr val="B4C3D2"/>
                </a:solidFill>
              </a:defRPr>
            </a:pPr>
            <a:r>
              <a:t>• 数据库操作有异常捕获</a:t>
            </a:r>
          </a:p>
          <a:p>
            <a:pPr>
              <a:spcBef>
                <a:spcPts val="600"/>
              </a:spcBef>
              <a:defRPr sz="1500" b="0">
                <a:solidFill>
                  <a:srgbClr val="B4C3D2"/>
                </a:solidFill>
              </a:defRPr>
            </a:pPr>
            <a:r>
              <a:t>• SSH连接有超时和认证异常处理</a:t>
            </a:r>
          </a:p>
          <a:p>
            <a:pPr>
              <a:spcBef>
                <a:spcPts val="600"/>
              </a:spcBef>
              <a:defRPr sz="1500" b="0">
                <a:solidFill>
                  <a:srgbClr val="B4C3D2"/>
                </a:solidFill>
              </a:defRPr>
            </a:pPr>
            <a:r>
              <a:t>• 所有模块有错误日志记录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AA"/>
                </a:solidFill>
              </a:defRPr>
            </a:pPr>
            <a:r>
              <a:t>项目文档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6634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C3D2"/>
                </a:solidFill>
              </a:defRPr>
            </a:pPr>
            <a:r>
              <a:t>• 设计方案书（选题+需求+技术+测试）</a:t>
            </a:r>
          </a:p>
          <a:p>
            <a:pPr>
              <a:spcBef>
                <a:spcPts val="600"/>
              </a:spcBef>
              <a:defRPr sz="1500" b="0">
                <a:solidFill>
                  <a:srgbClr val="B4C3D2"/>
                </a:solidFill>
              </a:defRPr>
            </a:pPr>
            <a:r>
              <a:t>• 用户使用说明（功能清单+操作+FAQ）</a:t>
            </a:r>
          </a:p>
          <a:p>
            <a:pPr>
              <a:spcBef>
                <a:spcPts val="600"/>
              </a:spcBef>
              <a:defRPr sz="1500" b="0">
                <a:solidFill>
                  <a:srgbClr val="B4C3D2"/>
                </a:solidFill>
              </a:defRPr>
            </a:pPr>
            <a:r>
              <a:t>• 部署文档（环境+步骤+验证）</a:t>
            </a:r>
          </a:p>
          <a:p>
            <a:pPr>
              <a:spcBef>
                <a:spcPts val="600"/>
              </a:spcBef>
              <a:defRPr sz="1500" b="0">
                <a:solidFill>
                  <a:srgbClr val="B4C3D2"/>
                </a:solidFill>
              </a:defRPr>
            </a:pPr>
            <a:r>
              <a:t>• 架构图 + 流程图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</a:defRPr>
            </a:pPr>
            <a:r>
              <a:t>🎬  15 答辩演示流程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4C3D2"/>
                </a:solidFill>
              </a:defRPr>
            </a:pPr>
            <a:r>
              <a:t>控制在5-10分钟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</a:defRPr>
            </a:pPr>
            <a: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280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启动项目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280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C3D2"/>
                </a:solidFill>
              </a:defRPr>
            </a:pPr>
            <a:r>
              <a:t>python run.py → 展示自动检查依赖+初始化数据库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</a:defRPr>
            </a:pPr>
            <a:r>
              <a:t>Step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系统监控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9202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C3D2"/>
                </a:solidFill>
              </a:defRPr>
            </a:pPr>
            <a:r>
              <a:t>打开仪表盘 → 展示CPU/内存/磁盘实时数据+趋势图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60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</a:defRPr>
            </a:pPr>
            <a:r>
              <a:t>Step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560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SSH远程运维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60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C3D2"/>
                </a:solidFill>
              </a:defRPr>
            </a:pPr>
            <a:r>
              <a:t>添加服务器 → 执行 df -h / free -m → 展示命令结果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39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</a:defRPr>
            </a:pPr>
            <a:r>
              <a:t>Step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0039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日志分析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20039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C3D2"/>
                </a:solidFill>
              </a:defRPr>
            </a:pPr>
            <a:r>
              <a:t>点击分析日志 → 展示安全检测结果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</a:defRPr>
            </a:pPr>
            <a:r>
              <a:t>Step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84047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触发告警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84047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C3D2"/>
                </a:solidFill>
              </a:defRPr>
            </a:pPr>
            <a:r>
              <a:t>yes &gt; /dev/null → CPU飙升 → 自动告警弹出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</a:defRPr>
            </a:pPr>
            <a:r>
              <a:t>Step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运维工具箱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480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C3D2"/>
                </a:solidFill>
              </a:defRPr>
            </a:pPr>
            <a:r>
              <a:t>主机扫描 → 端口扫描 → 进程管理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206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</a:defRPr>
            </a:pPr>
            <a:r>
              <a:t>Step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1206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代码展示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120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C3D2"/>
                </a:solidFill>
              </a:defRPr>
            </a:pPr>
            <a:r>
              <a:t>打开.py文件 → 展示docstring注释+模块结构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6071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</a:defRPr>
            </a:pPr>
            <a:r>
              <a:t>Step 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7607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总结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576071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4C3D2"/>
                </a:solidFill>
              </a:defRPr>
            </a:pPr>
            <a:r>
              <a:t>强调：4个核心库+5类工具联动+自动化闭环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31520"/>
            <a:ext cx="12161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4AA"/>
                </a:solidFill>
              </a:defRPr>
            </a:pPr>
            <a:r>
              <a:t>项目总结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503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4C3D2"/>
                </a:solidFill>
              </a:defRPr>
            </a:pPr>
            <a:r>
              <a:t>✅  覆盖4个核心模块：监控 / SSH运维 / 日志分析 / 自动告警</a:t>
            </a:r>
          </a:p>
          <a:p>
            <a:pPr>
              <a:spcBef>
                <a:spcPts val="600"/>
              </a:spcBef>
              <a:defRPr sz="2000" b="0">
                <a:solidFill>
                  <a:srgbClr val="B4C3D2"/>
                </a:solidFill>
              </a:defRPr>
            </a:pPr>
            <a:r>
              <a:t>✅  使用4个课程核心库：psutil / Paramiko / schedule / Fabric</a:t>
            </a:r>
          </a:p>
          <a:p>
            <a:pPr>
              <a:spcBef>
                <a:spcPts val="600"/>
              </a:spcBef>
              <a:defRPr sz="2000" b="0">
                <a:solidFill>
                  <a:srgbClr val="B4C3D2"/>
                </a:solidFill>
              </a:defRPr>
            </a:pPr>
            <a:r>
              <a:t>✅  实现5类工具联动：监控 + 调度 + 日志 + 可视化 + 告警</a:t>
            </a:r>
          </a:p>
          <a:p>
            <a:pPr>
              <a:spcBef>
                <a:spcPts val="600"/>
              </a:spcBef>
              <a:defRPr sz="2000" b="0">
                <a:solidFill>
                  <a:srgbClr val="B4C3D2"/>
                </a:solidFill>
              </a:defRPr>
            </a:pPr>
            <a:r>
              <a:t>✅  新增拓展功能：主机扫描 / 端口扫描 / DNS / 进程管理 / Ansible</a:t>
            </a:r>
          </a:p>
          <a:p>
            <a:pPr>
              <a:spcBef>
                <a:spcPts val="600"/>
              </a:spcBef>
              <a:defRPr sz="2000" b="0">
                <a:solidFill>
                  <a:srgbClr val="B4C3D2"/>
                </a:solidFill>
              </a:defRPr>
            </a:pPr>
            <a:r>
              <a:t>✅  完整项目文档：设计方案书 + 用户手册 + 部署文档 + 架构图</a:t>
            </a:r>
          </a:p>
          <a:p>
            <a:pPr>
              <a:spcBef>
                <a:spcPts val="600"/>
              </a:spcBef>
              <a:defRPr sz="2000" b="0">
                <a:solidFill>
                  <a:srgbClr val="B4C3D2"/>
                </a:solidFill>
              </a:defRPr>
            </a:pPr>
            <a:r>
              <a:t>✅  模块化架构设计：7个独立模块，接口标准化，低耦合高内聚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29200"/>
            <a:ext cx="1216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4AA"/>
                </a:solidFill>
              </a:defRPr>
            </a:pPr>
            <a:r>
              <a:t>谢谢老师！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760720"/>
            <a:ext cx="1216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C3D2"/>
                </a:solidFill>
              </a:defRPr>
            </a:pPr>
            <a:r>
              <a:t>余凯楠 · 202310012730 · 网络工程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8153</Words>
  <Application>WPS 演示</Application>
  <PresentationFormat>On-screen Show (4:3)</PresentationFormat>
  <Paragraphs>360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余凯楠</cp:lastModifiedBy>
  <cp:revision>3</cp:revision>
  <dcterms:created xsi:type="dcterms:W3CDTF">2013-01-27T09:14:00Z</dcterms:created>
  <dcterms:modified xsi:type="dcterms:W3CDTF">2026-05-22T06:05:44Z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031FB89C747F49459DB4AB024FF74C8A_12</vt:lpwstr>
  </property>
  <property fmtid="{D5CDD505-2E9C-101B-9397-08002B2CF9AE}" pid="3" name="KSOProductBuildVer">
    <vt:lpwstr>2052-12.1.0.26375</vt:lpwstr>
  </property>
</Properties>
</file>