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6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D4AA"/>
                </a:solidFill>
              </a:defRPr>
            </a:pPr>
            <a:r>
              <a:t>AutoOps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6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企业级智能自动化运维平台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926080"/>
            <a:ext cx="914400" cy="32004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58A6FF"/>
                </a:solidFill>
              </a:defRPr>
            </a:pPr>
            <a:r>
              <a:t>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926080"/>
            <a:ext cx="914400" cy="32004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58A6FF"/>
                </a:solidFill>
              </a:defRPr>
            </a:pPr>
            <a:r>
              <a:t>Flask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926080"/>
            <a:ext cx="914400" cy="32004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58A6FF"/>
                </a:solidFill>
              </a:defRPr>
            </a:pPr>
            <a:r>
              <a:t>psutil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926080"/>
            <a:ext cx="914400" cy="32004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58A6FF"/>
                </a:solidFill>
              </a:defRPr>
            </a:pPr>
            <a:r>
              <a:t>Paramiko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926080"/>
            <a:ext cx="914400" cy="32004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58A6FF"/>
                </a:solidFill>
              </a:defRPr>
            </a:pPr>
            <a:r>
              <a:t>schedule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926080"/>
            <a:ext cx="914400" cy="32004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58A6FF"/>
                </a:solidFill>
              </a:defRPr>
            </a:pPr>
            <a:r>
              <a:t>SQLite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926080"/>
            <a:ext cx="914400" cy="32004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58A6FF"/>
                </a:solidFill>
              </a:defRPr>
            </a:pPr>
            <a:r>
              <a:t>Bootstrap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2926080"/>
            <a:ext cx="914400" cy="32004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58A6FF"/>
                </a:solidFill>
              </a:defRPr>
            </a:pPr>
            <a:r>
              <a:t>Chart.js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840480"/>
            <a:ext cx="6675120" cy="27432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00D4AA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0" y="4206240"/>
            <a:ext cx="1216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《自动化运维技术》课程设计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4754880"/>
            <a:ext cx="12161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CA0B4"/>
                </a:solidFill>
              </a:defRPr>
            </a:pPr>
            <a:r>
              <a:t>  |  网络工程  |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943600"/>
            <a:ext cx="1216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A0B4"/>
                </a:solidFill>
              </a:defRPr>
            </a:pPr>
            <a:r>
              <a:t>基于 Python + Flask + Paramiko + psutil 的企业服务器智能运维与安全监控系统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📋  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A0B4"/>
                </a:solidFill>
              </a:defRPr>
            </a:pPr>
            <a:r>
              <a:t>痛点分析与项目目标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系统架构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A0B4"/>
                </a:solidFill>
              </a:defRPr>
            </a:pPr>
            <a:r>
              <a:t>整体架构设计图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技术选型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A0B4"/>
                </a:solidFill>
              </a:defRPr>
            </a:pPr>
            <a:r>
              <a:t>4个核心库 + 前端框架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31720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功能模块详解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606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A0B4"/>
                </a:solidFill>
              </a:defRPr>
            </a:pPr>
            <a:r>
              <a:t>监控/SSH/日志/告警/工具箱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数据库设计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A0B4"/>
                </a:solidFill>
              </a:defRPr>
            </a:pPr>
            <a:r>
              <a:t>4张核心数据表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291840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模块联动流程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A0B4"/>
                </a:solidFill>
              </a:defRPr>
            </a:pPr>
            <a:r>
              <a:t>自动化闭环流程图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51960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代码质量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A0B4"/>
                </a:solidFill>
              </a:defRPr>
            </a:pPr>
            <a:r>
              <a:t>模块化 + 注释 + 异常处理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251960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项目目录结构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A0B4"/>
                </a:solidFill>
              </a:defRPr>
            </a:pPr>
            <a:r>
              <a:t>7个独立模块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12080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演示流程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A0B4"/>
                </a:solidFill>
              </a:defRPr>
            </a:pPr>
            <a:r>
              <a:t>8步答辩演示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212080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A0B4"/>
                </a:solidFill>
              </a:defRPr>
            </a:pPr>
            <a:r>
              <a:t>项目亮点与创新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📋  01 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传统运维 vs 自动化运维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57200"/>
          </a:xfrm>
          <a:prstGeom prst="roundRect">
            <a:avLst/>
          </a:prstGeom>
          <a:solidFill>
            <a:srgbClr val="281414"/>
          </a:solidFill>
          <a:ln w="2540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A3633"/>
                </a:solidFill>
              </a:defRPr>
            </a:pPr>
            <a:r>
              <a:t>❌  传统人工运维的痛点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097280" cy="457200"/>
          </a:xfrm>
          <a:prstGeom prst="roundRect">
            <a:avLst/>
          </a:prstGeom>
          <a:solidFill>
            <a:srgbClr val="1E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633"/>
                </a:solidFill>
              </a:defRPr>
            </a:pPr>
            <a:r>
              <a:t>效率低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服务器数量激增，逐台管理耗时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88920"/>
            <a:ext cx="1097280" cy="457200"/>
          </a:xfrm>
          <a:prstGeom prst="roundRect">
            <a:avLst/>
          </a:prstGeom>
          <a:solidFill>
            <a:srgbClr val="1E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633"/>
                </a:solidFill>
              </a:defRPr>
            </a:pPr>
            <a:r>
              <a:t>发现慢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故障出现后才被动响应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66160"/>
            <a:ext cx="1097280" cy="457200"/>
          </a:xfrm>
          <a:prstGeom prst="roundRect">
            <a:avLst/>
          </a:prstGeom>
          <a:solidFill>
            <a:srgbClr val="1E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633"/>
                </a:solidFill>
              </a:defRPr>
            </a:pPr>
            <a:r>
              <a:t>日志散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各服务器日志独立，无法统一分析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43400"/>
            <a:ext cx="1097280" cy="457200"/>
          </a:xfrm>
          <a:prstGeom prst="roundRect">
            <a:avLst/>
          </a:prstGeom>
          <a:solidFill>
            <a:srgbClr val="1E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633"/>
                </a:solidFill>
              </a:defRPr>
            </a:pPr>
            <a:r>
              <a:t>安全弱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暴力破解、异常登录无法实时检测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20640"/>
            <a:ext cx="1097280" cy="457200"/>
          </a:xfrm>
          <a:prstGeom prst="roundRect">
            <a:avLst/>
          </a:prstGeom>
          <a:solidFill>
            <a:srgbClr val="1E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633"/>
                </a:solidFill>
              </a:defRPr>
            </a:pPr>
            <a:r>
              <a:t>重复操作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51663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逐台SSH登录执行相同命令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5303520" cy="457200"/>
          </a:xfrm>
          <a:prstGeom prst="roundRect">
            <a:avLst/>
          </a:prstGeom>
          <a:solidFill>
            <a:srgbClr val="0F231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D4AA"/>
                </a:solidFill>
              </a:defRPr>
            </a:pPr>
            <a:r>
              <a:t>✅  AutoOps 解决方案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1371600" cy="457200"/>
          </a:xfrm>
          <a:prstGeom prst="roundRect">
            <a:avLst/>
          </a:prstGeom>
          <a:solidFill>
            <a:srgbClr val="0F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自动化监控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psutil每10秒自动采集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88920"/>
            <a:ext cx="1371600" cy="457200"/>
          </a:xfrm>
          <a:prstGeom prst="roundRect">
            <a:avLst/>
          </a:prstGeom>
          <a:solidFill>
            <a:srgbClr val="0F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实时告警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超阈值自动触发告警+邮件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566160"/>
            <a:ext cx="1371600" cy="457200"/>
          </a:xfrm>
          <a:prstGeom prst="roundRect">
            <a:avLst/>
          </a:prstGeom>
          <a:solidFill>
            <a:srgbClr val="0F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日志分析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统一采集+暴力破解检测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343400"/>
            <a:ext cx="1371600" cy="457200"/>
          </a:xfrm>
          <a:prstGeom prst="roundRect">
            <a:avLst/>
          </a:prstGeom>
          <a:solidFill>
            <a:srgbClr val="0F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远程运维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SSH统一管理多台服务器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120640"/>
            <a:ext cx="1371600" cy="457200"/>
          </a:xfrm>
          <a:prstGeom prst="roundRect">
            <a:avLst/>
          </a:prstGeom>
          <a:solidFill>
            <a:srgbClr val="0F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Web可视化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1663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暗色主题仪表盘实时展示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🏗️  02 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B/S架构 · Flask + SQLite + Bootstrap + Chart.js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188720"/>
            <a:ext cx="4846320" cy="640080"/>
          </a:xfrm>
          <a:prstGeom prst="roundRect">
            <a:avLst/>
          </a:prstGeom>
          <a:solidFill>
            <a:srgbClr val="0F3460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🌐  Web管理后台  (Flask + Bootstrap + Chart.js)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43600" y="1828800"/>
            <a:ext cx="274320" cy="457200"/>
          </a:xfrm>
          <a:prstGeom prst="down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468880"/>
            <a:ext cx="2286000" cy="82296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📊 系统监控</a:t>
            </a:r>
            <a:br/>
            <a:r>
              <a:t>psutil +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468880"/>
            <a:ext cx="2286000" cy="82296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D4AA"/>
                </a:solidFill>
              </a:defRPr>
            </a:pPr>
            <a:r>
              <a:t>🖥️ SSH远程运维</a:t>
            </a:r>
            <a:br/>
            <a:r>
              <a:t>Paramiko + 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468880"/>
            <a:ext cx="2286000" cy="82296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🛡️ 日志分析</a:t>
            </a:r>
            <a:br/>
            <a:r>
              <a:t>logging + 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468880"/>
            <a:ext cx="2286000" cy="82296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29922"/>
                </a:solidFill>
              </a:defRPr>
            </a:pPr>
            <a:r>
              <a:t>🔔 自动告警</a:t>
            </a:r>
            <a:br/>
            <a:r>
              <a:t>smtplib + sqlite3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3600" y="3383280"/>
            <a:ext cx="274320" cy="457200"/>
          </a:xfrm>
          <a:prstGeom prst="down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4023360"/>
            <a:ext cx="5760720" cy="64008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8CA0B4"/>
                </a:solidFill>
              </a:defRPr>
            </a:pPr>
            <a:r>
              <a:t>💾  SQLite 数据库  (server_status / alerts / ssh_hosts / operation_logs)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43600" y="4754880"/>
            <a:ext cx="274320" cy="457200"/>
          </a:xfrm>
          <a:prstGeom prst="down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5394960"/>
            <a:ext cx="5760720" cy="64008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00D4AA"/>
                </a:solidFill>
              </a:defRPr>
            </a:pPr>
            <a:r>
              <a:t>🛠️  运维工具箱  (主机扫描 / 端口扫描 / DNS / 进程管理 / 报告导出 / Ansible)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1148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技术栈：</a:t>
            </a:r>
            <a:br/>
            <a:r>
              <a:t>• Python 3.10+</a:t>
            </a:r>
            <a:br/>
            <a:r>
              <a:t>• Flask 3.0</a:t>
            </a:r>
            <a:br/>
            <a:r>
              <a:t>• SQLite 3</a:t>
            </a:r>
            <a:br/>
            <a:r>
              <a:t>• Bootstrap 5</a:t>
            </a:r>
            <a:br/>
            <a:r>
              <a:t>• Chart.js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🔧  03 技术选型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4个课程核心库 + Web框架 + 数据库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58A6FF"/>
                </a:solidFill>
              </a:defRPr>
            </a:pPr>
            <a:r>
              <a:t>psutil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32004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系统监控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2560320" cy="7315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8CA0B4"/>
                </a:solidFill>
              </a:defRPr>
            </a:pPr>
            <a:r>
              <a:t>CPU/内存/磁盘</a:t>
            </a:r>
            <a:br/>
            <a:r>
              <a:t>网络/进程采集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256032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0D4AA"/>
                </a:solidFill>
              </a:defRPr>
            </a:pPr>
            <a:r>
              <a:t>Paramiko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920240"/>
            <a:ext cx="2560320" cy="32004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SSH远程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331720"/>
            <a:ext cx="2560320" cy="7315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8CA0B4"/>
                </a:solidFill>
              </a:defRPr>
            </a:pPr>
            <a:r>
              <a:t>密码登录/密钥认证</a:t>
            </a:r>
            <a:br/>
            <a:r>
              <a:t>SFTP/sudo提权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256032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D29922"/>
                </a:solidFill>
              </a:defRPr>
            </a:pPr>
            <a:r>
              <a:t>schedule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2560320" cy="32004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定时调度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31720"/>
            <a:ext cx="2560320" cy="7315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8CA0B4"/>
                </a:solidFill>
              </a:defRPr>
            </a:pPr>
            <a:r>
              <a:t>自动采集</a:t>
            </a:r>
            <a:br/>
            <a:r>
              <a:t>定时清理/巡检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56032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A855F7"/>
                </a:solidFill>
              </a:defRPr>
            </a:pPr>
            <a:r>
              <a:t>Fabric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920240"/>
            <a:ext cx="2560320" cy="32004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批量运维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331720"/>
            <a:ext cx="2560320" cy="7315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8CA0B4"/>
                </a:solidFill>
              </a:defRPr>
            </a:pPr>
            <a:r>
              <a:t>多服务器</a:t>
            </a:r>
            <a:br/>
            <a:r>
              <a:t>批量执行/部署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⬆  课程核心库（4个，超过要求的3个）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1691640" cy="7315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Flask 3.0</a:t>
            </a:r>
            <a:br/>
            <a:r>
              <a:t>Web框架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39" y="3931920"/>
            <a:ext cx="1691640" cy="7315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SQLite 3</a:t>
            </a:r>
            <a:br/>
            <a:r>
              <a:t>数据库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3931920"/>
            <a:ext cx="1691640" cy="7315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Bootstrap 5</a:t>
            </a:r>
            <a:br/>
            <a:r>
              <a:t>前端UI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3931920"/>
            <a:ext cx="1691640" cy="7315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D29922"/>
                </a:solidFill>
              </a:defRPr>
            </a:pPr>
            <a:r>
              <a:t>Chart.js 4</a:t>
            </a:r>
            <a:br/>
            <a:r>
              <a:t>图表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931920"/>
            <a:ext cx="1691640" cy="7315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smtplib</a:t>
            </a:r>
            <a:br/>
            <a:r>
              <a:t>邮件告警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3931920"/>
            <a:ext cx="1691640" cy="7315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logging</a:t>
            </a:r>
            <a:br/>
            <a:r>
              <a:t>日志系统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A0B4"/>
                </a:solidFill>
              </a:defRPr>
            </a:pPr>
            <a:r>
              <a:t>⬆  Web框架 + 前端 + 辅助库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4572000" cy="548640"/>
          </a:xfrm>
          <a:prstGeom prst="roundRect">
            <a:avLst/>
          </a:prstGeom>
          <a:solidFill>
            <a:srgbClr val="0F231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要求：至少3个核心库  →  实际使用：4个  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📊  04 功能模块：系统监控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技术栈：psutil + schedule · 后台线程每10秒自动采集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29922"/>
                </a:solidFill>
              </a:defRPr>
            </a:pPr>
            <a:r>
              <a:t>CPU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01168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8CA0B4"/>
                </a:solidFill>
              </a:defRPr>
            </a:pPr>
            <a:r>
              <a:t>psutil.cpu_percent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01168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D29922"/>
                </a:solidFill>
              </a:defRPr>
            </a:pPr>
            <a:r>
              <a:t>&gt; 80%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201168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29922"/>
                </a:solidFill>
              </a:defRPr>
            </a:pPr>
            <a:r>
              <a:t>内存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920240"/>
            <a:ext cx="201168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8CA0B4"/>
                </a:solidFill>
              </a:defRPr>
            </a:pPr>
            <a:r>
              <a:t>psutil.virtual_memory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377440"/>
            <a:ext cx="201168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D29922"/>
                </a:solidFill>
              </a:defRPr>
            </a:pPr>
            <a:r>
              <a:t>&gt; 85%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371600"/>
            <a:ext cx="201168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A3633"/>
                </a:solidFill>
              </a:defRPr>
            </a:pPr>
            <a:r>
              <a:t>磁盘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920240"/>
            <a:ext cx="201168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8CA0B4"/>
                </a:solidFill>
              </a:defRPr>
            </a:pPr>
            <a:r>
              <a:t>psutil.disk_usage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377440"/>
            <a:ext cx="201168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DA3633"/>
                </a:solidFill>
              </a:defRPr>
            </a:pPr>
            <a:r>
              <a:t>&gt; 90%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371600"/>
            <a:ext cx="201168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网络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920240"/>
            <a:ext cx="201168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8CA0B4"/>
                </a:solidFill>
              </a:defRPr>
            </a:pPr>
            <a:r>
              <a:t>psutil.net_io_counters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377440"/>
            <a:ext cx="201168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发送/接收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371600"/>
            <a:ext cx="201168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进程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920240"/>
            <a:ext cx="201168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8CA0B4"/>
                </a:solidFill>
              </a:defRPr>
            </a:pPr>
            <a:r>
              <a:t>psutil.process_iter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2377440"/>
            <a:ext cx="201168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Top 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00400"/>
            <a:ext cx="18288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psutil 采集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377440" y="329184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26080" y="3200400"/>
            <a:ext cx="18288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schedule 调度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46320" y="329184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94960" y="3200400"/>
            <a:ext cx="18288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CA0B4"/>
                </a:solidFill>
              </a:defRPr>
            </a:pPr>
            <a:r>
              <a:t>SQLite 存储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315200" y="329184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63840" y="3200400"/>
            <a:ext cx="18288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633"/>
                </a:solidFill>
              </a:defRPr>
            </a:pPr>
            <a:r>
              <a:t>阈值检测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84080" y="329184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32720" y="3200400"/>
            <a:ext cx="1371600" cy="457200"/>
          </a:xfrm>
          <a:prstGeom prst="roundRect">
            <a:avLst/>
          </a:prstGeom>
          <a:solidFill>
            <a:srgbClr val="281414"/>
          </a:solidFill>
          <a:ln w="2540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633"/>
                </a:solidFill>
              </a:defRPr>
            </a:pPr>
            <a:r>
              <a:t>告警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14800"/>
            <a:ext cx="11247120" cy="457200"/>
          </a:xfrm>
          <a:prstGeom prst="roundRect">
            <a:avLst/>
          </a:prstGeom>
          <a:solidFill>
            <a:srgbClr val="0F231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🎬  演示：打开仪表盘 → 展示CPU/内存/磁盘实时数据跳动 + 趋势图自动更新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页面包含：</a:t>
            </a:r>
            <a:br/>
            <a:r>
              <a:t>• 4个状态卡片（CPU/内存/磁盘/进程数）实时刷新</a:t>
            </a:r>
            <a:br/>
            <a:r>
              <a:t>• Chart.js趋势图（最近30个数据点）</a:t>
            </a:r>
            <a:br/>
            <a:r>
              <a:t>• Top进程列表（按CPU排序）</a:t>
            </a:r>
            <a:br/>
            <a:r>
              <a:t>• 最近告警列表</a:t>
            </a:r>
            <a:br/>
            <a:r>
              <a:t>• 系统信息面板（CPU核心数/内存总量/磁盘总量/网络流量）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🖥️  04 功能模块：SSH远程运维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技术栈：Paramiko + Fabric · 支持密码/密钥/sudo/SFTP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9144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密码登录</a:t>
            </a:r>
            <a:br/>
            <a:r>
              <a:t>SSHClient</a:t>
            </a:r>
            <a:br/>
            <a:r>
              <a:t>.connect()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474720" cy="9144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密钥认证</a:t>
            </a:r>
            <a:br/>
            <a:r>
              <a:t>RSAKey</a:t>
            </a:r>
            <a:br/>
            <a:r>
              <a:t>.from_private_key()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474720" cy="9144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00D4AA"/>
                </a:solidFill>
              </a:defRPr>
            </a:pPr>
            <a:r>
              <a:t>命令执行</a:t>
            </a:r>
            <a:br/>
            <a:r>
              <a:t>exec_command()</a:t>
            </a:r>
            <a:br/>
            <a:r>
              <a:t>远程执行Linux命令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3474720" cy="9144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D29922"/>
                </a:solidFill>
              </a:defRPr>
            </a:pPr>
            <a:r>
              <a:t>sudo提权</a:t>
            </a:r>
            <a:br/>
            <a:r>
              <a:t>stdin.write()</a:t>
            </a:r>
            <a:br/>
            <a:r>
              <a:t>sudo -S 命令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560320"/>
            <a:ext cx="3474720" cy="9144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A855F7"/>
                </a:solidFill>
              </a:defRPr>
            </a:pPr>
            <a:r>
              <a:t>SFTP传输</a:t>
            </a:r>
            <a:br/>
            <a:r>
              <a:t>SFTPClient</a:t>
            </a:r>
            <a:br/>
            <a:r>
              <a:t>上传/下载文件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560320"/>
            <a:ext cx="3474720" cy="9144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DA3633"/>
                </a:solidFill>
              </a:defRPr>
            </a:pPr>
            <a:r>
              <a:t>批量管理</a:t>
            </a:r>
            <a:br/>
            <a:r>
              <a:t>batch_exec()</a:t>
            </a:r>
            <a:br/>
            <a:r>
              <a:t>多服务器同时执行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11247120" cy="457200"/>
          </a:xfrm>
          <a:prstGeom prst="roundRect">
            <a:avLst/>
          </a:prstGeom>
          <a:solidFill>
            <a:srgbClr val="0F231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D4AA"/>
                </a:solidFill>
              </a:defRPr>
            </a:pPr>
            <a:r>
              <a:t>⚡  快捷命令按钮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737360" cy="64008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df -h</a:t>
            </a:r>
            <a:br/>
            <a:r>
              <a:t>磁盘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4663440"/>
            <a:ext cx="1737360" cy="64008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free -m</a:t>
            </a:r>
            <a:br/>
            <a:r>
              <a:t>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663440"/>
            <a:ext cx="1737360" cy="64008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top</a:t>
            </a:r>
            <a:br/>
            <a:r>
              <a:t>进程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63440"/>
            <a:ext cx="1737360" cy="64008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uname -a</a:t>
            </a:r>
            <a:br/>
            <a:r>
              <a:t>系统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663440"/>
            <a:ext cx="1737360" cy="64008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netstat</a:t>
            </a:r>
            <a:br/>
            <a:r>
              <a:t>端口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4663440"/>
            <a:ext cx="1737360" cy="64008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ps aux</a:t>
            </a:r>
            <a:br/>
            <a:r>
              <a:t>高CPU进程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577840"/>
            <a:ext cx="11247120" cy="457200"/>
          </a:xfrm>
          <a:prstGeom prst="roundRect">
            <a:avLst/>
          </a:prstGeom>
          <a:solidFill>
            <a:srgbClr val="0F231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🎬  演示：添加服务器 → 选择 → 执行 df -h / free -m → 查看结果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🛡️  04 功能模块：日志分析与安全检测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技术栈：logging + re · 关键词匹配 + 正则表达式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82296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DA3633"/>
                </a:solidFill>
              </a:defRPr>
            </a:pPr>
            <a:r>
              <a:t>🔍 暴力破解</a:t>
            </a:r>
            <a:br/>
            <a:r>
              <a:t>Failed password</a:t>
            </a:r>
            <a:br/>
            <a:r>
              <a:t>提取攻击源IP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474720" cy="82296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D29922"/>
                </a:solidFill>
              </a:defRPr>
            </a:pPr>
            <a:r>
              <a:t>🔍 异常登录</a:t>
            </a:r>
            <a:br/>
            <a:r>
              <a:t>Invalid user</a:t>
            </a:r>
            <a:br/>
            <a:r>
              <a:t>authentication failure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474720" cy="82296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DA3633"/>
                </a:solidFill>
              </a:defRPr>
            </a:pPr>
            <a:r>
              <a:t>🔍 系统崩溃</a:t>
            </a:r>
            <a:br/>
            <a:r>
              <a:t>kernel panic</a:t>
            </a:r>
            <a:br/>
            <a:r>
              <a:t>segfault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3474720" cy="82296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D29922"/>
                </a:solidFill>
              </a:defRPr>
            </a:pPr>
            <a:r>
              <a:t>🔍 内存溢出</a:t>
            </a:r>
            <a:br/>
            <a:r>
              <a:t>OOM</a:t>
            </a:r>
            <a:br/>
            <a:r>
              <a:t>out of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468880"/>
            <a:ext cx="3474720" cy="82296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DA3633"/>
                </a:solidFill>
              </a:defRPr>
            </a:pPr>
            <a:r>
              <a:t>🔍 磁盘满</a:t>
            </a:r>
            <a:br/>
            <a:r>
              <a:t>disk full</a:t>
            </a:r>
            <a:br/>
            <a:r>
              <a:t>No space left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468880"/>
            <a:ext cx="3474720" cy="82296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D29922"/>
                </a:solidFill>
              </a:defRPr>
            </a:pPr>
            <a:r>
              <a:t>🔍 权限异常</a:t>
            </a:r>
            <a:br/>
            <a:r>
              <a:t>permission denied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22860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日志采集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34640" y="393192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3840480"/>
            <a:ext cx="22860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关键词匹配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60720" y="393192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3840480"/>
            <a:ext cx="22860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正则提取IP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86800" y="393192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35440" y="3840480"/>
            <a:ext cx="22860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生成报告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11247120" cy="457200"/>
          </a:xfrm>
          <a:prstGeom prst="roundRect">
            <a:avLst/>
          </a:prstGeom>
          <a:solidFill>
            <a:srgbClr val="0F231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🎬  演示：点击 分析日志 按钮 → 展示安全检测结果（可疑事件数量）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🔔  04 功能模块：自动告警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技术栈：smtplib + sqlite3 · 三级告警 + 邮件通知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INFO  信息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347472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8CA0B4"/>
                </a:solidFill>
              </a:defRPr>
            </a:pPr>
            <a:r>
              <a:t>一般状态通知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474720" cy="457200"/>
          </a:xfrm>
          <a:prstGeom prst="roundRect">
            <a:avLst/>
          </a:prstGeom>
          <a:solidFill>
            <a:srgbClr val="28230F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D29922"/>
                </a:solidFill>
              </a:defRPr>
            </a:pPr>
            <a:r>
              <a:t>WARNING  警告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347472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8CA0B4"/>
                </a:solidFill>
              </a:defRPr>
            </a:pPr>
            <a:r>
              <a:t>CPU&gt;80% 内存&gt;85%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474720" cy="457200"/>
          </a:xfrm>
          <a:prstGeom prst="roundRect">
            <a:avLst/>
          </a:prstGeom>
          <a:solidFill>
            <a:srgbClr val="280F0F"/>
          </a:solidFill>
          <a:ln w="2540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DA3633"/>
                </a:solidFill>
              </a:defRPr>
            </a:pPr>
            <a:r>
              <a:t>CRITICAL  严重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920240"/>
            <a:ext cx="347472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8CA0B4"/>
                </a:solidFill>
              </a:defRPr>
            </a:pPr>
            <a:r>
              <a:t>磁盘&gt;90% 暴力破解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告警触发流程：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2011680" cy="73152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数据采集</a:t>
            </a:r>
            <a:br/>
            <a:r>
              <a:t>psutil</a:t>
            </a:r>
            <a:br/>
            <a:r>
              <a:t>每10秒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60320" y="3383280"/>
            <a:ext cx="18288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3108960"/>
            <a:ext cx="2011680" cy="73152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D29922"/>
                </a:solidFill>
              </a:defRPr>
            </a:pPr>
            <a:r>
              <a:t>阈值对比</a:t>
            </a:r>
            <a:br/>
            <a:r>
              <a:t>CPU&gt;80%?</a:t>
            </a:r>
            <a:br/>
            <a:r>
              <a:t>内存&gt;85%?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37760" y="3383280"/>
            <a:ext cx="18288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3108960"/>
            <a:ext cx="2011680" cy="73152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写入数据库</a:t>
            </a:r>
            <a:br/>
            <a:r>
              <a:t>alerts表</a:t>
            </a:r>
            <a:br/>
            <a:r>
              <a:t>记录告警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15200" y="3383280"/>
            <a:ext cx="18288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89520" y="3108960"/>
            <a:ext cx="2011680" cy="73152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58A6FF"/>
                </a:solidFill>
              </a:defRPr>
            </a:pPr>
            <a:r>
              <a:t>Web展示</a:t>
            </a:r>
            <a:br/>
            <a:r>
              <a:t>告警页面</a:t>
            </a:r>
            <a:br/>
            <a:r>
              <a:t>实时刷新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92640" y="3383280"/>
            <a:ext cx="18288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66960" y="3108960"/>
            <a:ext cx="2011680" cy="73152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DA3633"/>
                </a:solidFill>
              </a:defRPr>
            </a:pPr>
            <a:r>
              <a:t>邮件通知</a:t>
            </a:r>
            <a:br/>
            <a:r>
              <a:t>CRITICAL</a:t>
            </a:r>
            <a:br/>
            <a:r>
              <a:t>自动发邮件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06240"/>
            <a:ext cx="11247120" cy="457200"/>
          </a:xfrm>
          <a:prstGeom prst="roundRect">
            <a:avLst/>
          </a:prstGeom>
          <a:solidFill>
            <a:srgbClr val="0F231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🎬  演示：终端执行 yes &gt; /dev/null → CPU飙升100% → 自动弹出WARNING告警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🛠️  04 拓展功能：运维工具箱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整合课程实验01-08的知识点 · 7项实用功能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65176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📡 主机扫描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920240"/>
            <a:ext cx="2651760" cy="64008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批量Ping检测</a:t>
            </a:r>
            <a:br/>
            <a:r>
              <a:t>子网扫描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651760"/>
            <a:ext cx="2651760" cy="2743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58A6FF"/>
                </a:solidFill>
              </a:defRPr>
            </a:pPr>
            <a:r>
              <a:t>实验01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65176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D29922"/>
                </a:solidFill>
              </a:defRPr>
            </a:pPr>
            <a:r>
              <a:t>🔍 端口扫描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920240"/>
            <a:ext cx="2651760" cy="64008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TCP端口扫描</a:t>
            </a:r>
            <a:br/>
            <a:r>
              <a:t>常见服务识别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651760"/>
            <a:ext cx="2651760" cy="2743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D29922"/>
                </a:solidFill>
              </a:defRPr>
            </a:pPr>
            <a:r>
              <a:t>实验07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65176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🌐 DNS解析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2651760" cy="64008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域名A记录解析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651760"/>
            <a:ext cx="2651760" cy="2743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A855F7"/>
                </a:solidFill>
              </a:defRPr>
            </a:pPr>
            <a:r>
              <a:t>实验07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371600"/>
            <a:ext cx="265176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⚙️ 进程管理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920240"/>
            <a:ext cx="2651760" cy="64008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查看/排序/终止</a:t>
            </a:r>
            <a:br/>
            <a:r>
              <a:t>按CPU/内存排序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651760"/>
            <a:ext cx="2651760" cy="2743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实验02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200400"/>
            <a:ext cx="265176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📊 HTML报告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749039"/>
            <a:ext cx="2651760" cy="64008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自动生成</a:t>
            </a:r>
            <a:br/>
            <a:r>
              <a:t>巡检报告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480560"/>
            <a:ext cx="2651760" cy="2743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58A6FF"/>
                </a:solidFill>
              </a:defRPr>
            </a:pPr>
            <a:r>
              <a:t>实验03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200400"/>
            <a:ext cx="265176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8CA0B4"/>
                </a:solidFill>
              </a:defRPr>
            </a:pPr>
            <a:r>
              <a:t>📄 CSV导出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3749039"/>
            <a:ext cx="2651760" cy="64008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监控数据</a:t>
            </a:r>
            <a:br/>
            <a:r>
              <a:t>导出为表格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4480560"/>
            <a:ext cx="2651760" cy="2743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实验05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200400"/>
            <a:ext cx="265176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📋 Ansible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749039"/>
            <a:ext cx="2651760" cy="64008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系统初始化</a:t>
            </a:r>
            <a:br/>
            <a:r>
              <a:t>批量用户管理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480560"/>
            <a:ext cx="2651760" cy="2743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A855F7"/>
                </a:solidFill>
              </a:defRPr>
            </a:pPr>
            <a:r>
              <a:t>实验08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303520"/>
            <a:ext cx="11430000" cy="457200"/>
          </a:xfrm>
          <a:prstGeom prst="roundRect">
            <a:avLst/>
          </a:prstGeom>
          <a:solidFill>
            <a:srgbClr val="0F231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AA"/>
                </a:solidFill>
              </a:defRPr>
            </a:pPr>
            <a:r>
              <a:t>🎬  演示：工具箱 → 主机扫描（127.0.0.1） → 端口扫描 → 进程管理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💾  05 数据库设计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SQLite · 4张核心数据表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server_status</a:t>
            </a:r>
            <a:br/>
            <a:r>
              <a:t>服务器状态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73736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id  INTEGER PK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4884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cpu 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56032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memory  REAL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97180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disk  REAL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38328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network_sent  REAL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79476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network_recv 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20624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process_count  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61772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create_time  TIMESTAMP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1887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A3633"/>
                </a:solidFill>
              </a:defRPr>
            </a:pPr>
            <a:r>
              <a:t>alerts</a:t>
            </a:r>
            <a:br/>
            <a:r>
              <a:t>告警记录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73736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id  INTEGER PK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14884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level  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56032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module 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297180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message  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38328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is_resolved  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79476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create_time  TIMESTAMP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1887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D4AA"/>
                </a:solidFill>
              </a:defRPr>
            </a:pPr>
            <a:r>
              <a:t>ssh_hosts</a:t>
            </a:r>
            <a:br/>
            <a:r>
              <a:t>SSH主机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73736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id  INTEGER PK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14884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hostname  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56032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port  INTEGER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97180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username  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38328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password  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79476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description  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11887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operation_logs</a:t>
            </a:r>
            <a:br/>
            <a:r>
              <a:t>操作日志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173736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id  INTEGER PK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214884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operator  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256032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action  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297180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target  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338328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result  TEXT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379476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CA0B4"/>
                </a:solidFill>
              </a:defRPr>
            </a:pPr>
            <a:r>
              <a:t>create_time  TIMESTAMP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🔗  06 模块联动流程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监控 → 分析 → 告警 → SSH处理 → 日志审计（自动化闭环）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64008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📊 psutil</a:t>
            </a:r>
            <a:br/>
            <a:r>
              <a:t>系统采集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0320" y="155448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08960" y="1371600"/>
            <a:ext cx="2011680" cy="64008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⏰ schedule</a:t>
            </a:r>
            <a:br/>
            <a:r>
              <a:t>定时调度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212080" y="155448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371600"/>
            <a:ext cx="2011680" cy="64008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CA0B4"/>
                </a:solidFill>
              </a:defRPr>
            </a:pPr>
            <a:r>
              <a:t>💾 SQLite</a:t>
            </a:r>
            <a:br/>
            <a:r>
              <a:t>数据存储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155448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1371600"/>
            <a:ext cx="2011680" cy="64008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🔍 阈值检测</a:t>
            </a:r>
            <a:br/>
            <a:r>
              <a:t>CPU&gt;80%?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326880" y="2103120"/>
            <a:ext cx="274320" cy="457200"/>
          </a:xfrm>
          <a:prstGeom prst="downArrow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2743200"/>
            <a:ext cx="4572000" cy="640080"/>
          </a:xfrm>
          <a:prstGeom prst="roundRect">
            <a:avLst/>
          </a:prstGeom>
          <a:solidFill>
            <a:srgbClr val="280F0F"/>
          </a:solidFill>
          <a:ln w="2540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A3633"/>
                </a:solidFill>
              </a:defRPr>
            </a:pPr>
            <a:r>
              <a:t>🔔 自动告警  |  写入数据库 + Web展示 + 邮件通知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052560" y="3474720"/>
            <a:ext cx="274320" cy="457200"/>
          </a:xfrm>
          <a:prstGeom prst="down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0" y="4114800"/>
            <a:ext cx="4572000" cy="64008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🖥️ Paramiko SSH  |  管理员远程登录执行修复命令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052560" y="4846320"/>
            <a:ext cx="274320" cy="457200"/>
          </a:xfrm>
          <a:prstGeom prst="down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5486400"/>
            <a:ext cx="4572000" cy="64008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📝 logging  |  操作记录写入operation_logs表（审计）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432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自动化闭环逻辑：</a:t>
            </a:r>
            <a:br/>
            <a:br/>
            <a:r>
              <a:t>1. psutil 每10秒采集系统状态</a:t>
            </a:r>
            <a:br/>
            <a:r>
              <a:t>2. schedule 调度定时任务</a:t>
            </a:r>
            <a:br/>
            <a:r>
              <a:t>3. 数据存入 SQLite 数据库</a:t>
            </a:r>
            <a:br/>
            <a:r>
              <a:t>4. 自动对比告警阈值</a:t>
            </a:r>
            <a:br/>
            <a:r>
              <a:t>5. 超阈值 → 触发告警</a:t>
            </a:r>
            <a:br/>
            <a:r>
              <a:t>6. 管理员通过SSH远程处理</a:t>
            </a:r>
            <a:br/>
            <a:r>
              <a:t>7. 所有操作记入日志（审计）</a:t>
            </a:r>
            <a:br/>
            <a:br/>
            <a:r>
              <a:t>关键点：模块之间自动联动</a:t>
            </a:r>
            <a:br/>
            <a:r>
              <a:t>不需要人工干预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📝  07 代码质量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模块化设计 + 编码规范 + 异常处理 + 项目文档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D4AA"/>
                </a:solidFill>
              </a:defRPr>
            </a:pPr>
            <a:r>
              <a:t>模块化设计（5分）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• 7个独立Python模块</a:t>
            </a:r>
            <a:br/>
            <a:r>
              <a:t>• 每个模块单一职责</a:t>
            </a:r>
            <a:br/>
            <a:r>
              <a:t>• 模块间通过Flask路由和SQLite交互</a:t>
            </a:r>
            <a:br/>
            <a:r>
              <a:t>• 低耦合高内聚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4864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编码规范（5分）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• 所有.py文件100% docstring覆盖</a:t>
            </a:r>
            <a:br/>
            <a:r>
              <a:t>• 类/函数有完整参数说明</a:t>
            </a:r>
            <a:br/>
            <a:r>
              <a:t>• 命名统一（驼峰类名/下划线变量）</a:t>
            </a:r>
            <a:br/>
            <a:r>
              <a:t>• 关键逻辑有行内注释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54864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29922"/>
                </a:solidFill>
              </a:defRPr>
            </a:pPr>
            <a:r>
              <a:t>异常处理（5分）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• 所有API接口有try/except保护</a:t>
            </a:r>
            <a:br/>
            <a:r>
              <a:t>• 数据库操作有异常捕获</a:t>
            </a:r>
            <a:br/>
            <a:r>
              <a:t>• SSH连接有超时处理</a:t>
            </a:r>
            <a:br/>
            <a:r>
              <a:t>• 错误信息记入日志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31920"/>
            <a:ext cx="54864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项目文档（20分）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• 设计方案书（需求+技术+测试）</a:t>
            </a:r>
            <a:br/>
            <a:r>
              <a:t>• 用户使用说明（操作+FAQ）</a:t>
            </a:r>
            <a:br/>
            <a:r>
              <a:t>• 部署文档（环境+步骤+验证）</a:t>
            </a:r>
            <a:br/>
            <a:r>
              <a:t>• 架构图 + 流程图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📁  08 项目目录结构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7个独立模块 · 标准化目录 · 工程化设计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app.py  主入口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9164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Flask路由+启动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run.py  一键启动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9164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检查依赖+初始化DB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887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CA0B4"/>
                </a:solidFill>
              </a:defRPr>
            </a:pPr>
            <a:r>
              <a:t>config/  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9164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端口/阈值/邮件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1887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monitor/  系统监控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69164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psutil+schedule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603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remote/  SSH远程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063239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Paramiko+Fabric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25603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security/  日志分析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063239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logging+re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29922"/>
                </a:solidFill>
              </a:defRPr>
            </a:pPr>
            <a:r>
              <a:t>alert/  自动告警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063239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smtplib+sqlite3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5603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tools/  工具箱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063239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扫描/DNS/进程/报告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9319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CA0B4"/>
                </a:solidFill>
              </a:defRPr>
            </a:pPr>
            <a:r>
              <a:t>templates/  页面模板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43484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5个HTML页面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39319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CA0B4"/>
                </a:solidFill>
              </a:defRPr>
            </a:pPr>
            <a:r>
              <a:t>static/  前端资源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443484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CSS+JS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319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CA0B4"/>
                </a:solidFill>
              </a:defRPr>
            </a:pPr>
            <a:r>
              <a:t>database/  数据库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43484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SQL+SQLite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9319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CA0B4"/>
                </a:solidFill>
              </a:defRPr>
            </a:pPr>
            <a:r>
              <a:t>shell/  运维脚本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443484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deploy+monitor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303520"/>
            <a:ext cx="2743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docs/  项目文档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806440"/>
            <a:ext cx="2743200" cy="36576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8CA0B4"/>
                </a:solidFill>
              </a:defRPr>
            </a:pPr>
            <a:r>
              <a:t>PPT/Word/架构图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🎬  09 答辩演示流程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8步 · 控制在5-10分钟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188720"/>
            <a:ext cx="1371600" cy="45720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启动项目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188720"/>
            <a:ext cx="2743200" cy="45720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00D4AA"/>
                </a:solidFill>
              </a:defRPr>
            </a:pPr>
            <a:r>
              <a:t>python run.py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2618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展示自动检查+初始化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47088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847088"/>
            <a:ext cx="1371600" cy="45720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系统监控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847088"/>
            <a:ext cx="2743200" cy="45720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打开仪表盘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920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CPU/内存/磁盘实时数据+趋势图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05456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505456"/>
            <a:ext cx="1371600" cy="45720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SSH运维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505456"/>
            <a:ext cx="2743200" cy="45720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00D4AA"/>
                </a:solidFill>
              </a:defRPr>
            </a:pPr>
            <a:r>
              <a:t>执行 df -h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5786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远程命令执行+结果展示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63824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163824"/>
            <a:ext cx="1371600" cy="45720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日志分析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163824"/>
            <a:ext cx="2743200" cy="45720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A855F7"/>
                </a:solidFill>
              </a:defRPr>
            </a:pPr>
            <a:r>
              <a:t>点击分析日志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2369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安全检测结果展示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22191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A3633"/>
                </a:solidFill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3822191"/>
            <a:ext cx="1371600" cy="45720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触发告警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3822191"/>
            <a:ext cx="2743200" cy="45720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DA3633"/>
                </a:solidFill>
              </a:defRPr>
            </a:pPr>
            <a:r>
              <a:t>yes &gt; /dev/null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89534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CPU飙升→自动告警弹出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80559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29922"/>
                </a:solidFill>
              </a:defRPr>
            </a:pPr>
            <a: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480559"/>
            <a:ext cx="1371600" cy="45720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工具箱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80" y="4480559"/>
            <a:ext cx="2743200" cy="45720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D29922"/>
                </a:solidFill>
              </a:defRPr>
            </a:pPr>
            <a:r>
              <a:t>主机扫描+端口扫描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5537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拓展功能演示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38928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8C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8CA0B4"/>
                </a:solidFill>
              </a:defRPr>
            </a:pPr>
            <a:r>
              <a:t>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5138928"/>
            <a:ext cx="1371600" cy="45720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代码展示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0" y="5138928"/>
            <a:ext cx="2743200" cy="45720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8CA0B4"/>
                </a:solidFill>
              </a:defRPr>
            </a:pPr>
            <a:r>
              <a:t>打开.py文件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5212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docstring注释+模块结构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797296"/>
            <a:ext cx="45720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D4AA"/>
                </a:solidFill>
              </a:defRPr>
            </a:pPr>
            <a:r>
              <a:t>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5797296"/>
            <a:ext cx="1371600" cy="45720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5797296"/>
            <a:ext cx="2743200" cy="45720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00D4AA"/>
                </a:solidFill>
              </a:defRPr>
            </a:pPr>
            <a:r>
              <a:t>强调亮点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58704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4核心库+5工具联动+自动化闭环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⭐  10 项目总结与亮点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64592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4个核心库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psutil + Paramiko + schedule + Fabric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164592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5类工具联动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监控 + 调度 + 日志 + 可视化 + 告警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64592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4个核心模块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514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系统监控 + SSH运维 + 日志分析 + 自动告警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68880"/>
            <a:ext cx="164592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7项拓展功能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514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主机扫描/端口扫描/DNS/进程管理/报告/Ansible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164592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完整项目文档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61187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设计方案书 + 用户手册 + 部署文档 + 架构图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566160"/>
            <a:ext cx="1645920" cy="45720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模块化架构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61187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CA0B4"/>
                </a:solidFill>
              </a:defRPr>
            </a:pPr>
            <a:r>
              <a:t>7个独立模块，接口标准化，低耦合高内聚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029200"/>
            <a:ext cx="8503920" cy="731520"/>
          </a:xfrm>
          <a:prstGeom prst="roundRect">
            <a:avLst/>
          </a:prstGeom>
          <a:solidFill>
            <a:srgbClr val="1624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谢谢老师！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6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CA0B4"/>
                </a:solidFill>
              </a:defRPr>
            </a:pPr>
            <a:r>
              <a:t>余凯楠 · 202310012730 · 网络工程 · 广州应用科技学院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4715</Words>
  <Application>WPS 演示</Application>
  <PresentationFormat>On-screen Show (4:3)</PresentationFormat>
  <Paragraphs>644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余凯楠</cp:lastModifiedBy>
  <cp:revision>2</cp:revision>
  <dcterms:created xsi:type="dcterms:W3CDTF">2013-01-27T09:14:00Z</dcterms:created>
  <dcterms:modified xsi:type="dcterms:W3CDTF">2026-06-03T13:28:09Z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43D57AAB7A334C76A4068D9311AD2EB3_12</vt:lpwstr>
  </property>
  <property fmtid="{D5CDD505-2E9C-101B-9397-08002B2CF9AE}" pid="3" name="KSOProductBuildVer">
    <vt:lpwstr>2052-12.1.0.26375</vt:lpwstr>
  </property>
</Properties>
</file>